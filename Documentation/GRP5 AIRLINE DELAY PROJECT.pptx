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72"/>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2" r:id="rId16"/>
    <p:sldId id="273" r:id="rId17"/>
    <p:sldId id="275" r:id="rId18"/>
    <p:sldId id="276" r:id="rId19"/>
    <p:sldId id="277" r:id="rId20"/>
    <p:sldId id="278"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804"/>
    <p:restoredTop sz="94610"/>
  </p:normalViewPr>
  <p:slideViewPr>
    <p:cSldViewPr snapToGrid="0" snapToObjects="1">
      <p:cViewPr varScale="1">
        <p:scale>
          <a:sx n="88" d="100"/>
          <a:sy n="88" d="100"/>
        </p:scale>
        <p:origin x="2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608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2923957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3825860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486588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40226468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9359593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305075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1850583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8/5/26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40959484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4827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573568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38036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2003762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1241573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130919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7935483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5633237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31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8/5/26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140007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17.xml"/><Relationship Id="rId5" Type="http://schemas.openxmlformats.org/officeDocument/2006/relationships/image" Target="../media/image27.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17.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4E79"/>
          </a:solidFill>
          <a:ln/>
        </p:spPr>
        <p:txBody>
          <a:bodyPr/>
          <a:lstStyle/>
          <a:p>
            <a:endParaRPr lang="en-KE" dirty="0"/>
          </a:p>
        </p:txBody>
      </p:sp>
      <p:sp>
        <p:nvSpPr>
          <p:cNvPr id="3" name="Text 1"/>
          <p:cNvSpPr/>
          <p:nvPr/>
        </p:nvSpPr>
        <p:spPr>
          <a:xfrm>
            <a:off x="548640" y="548640"/>
            <a:ext cx="7315200" cy="365760"/>
          </a:xfrm>
          <a:prstGeom prst="rect">
            <a:avLst/>
          </a:prstGeom>
          <a:noFill/>
          <a:ln/>
        </p:spPr>
        <p:txBody>
          <a:bodyPr wrap="square" rtlCol="0" anchor="ctr"/>
          <a:lstStyle/>
          <a:p>
            <a:pPr marL="0" indent="0">
              <a:buNone/>
            </a:pPr>
            <a:r>
              <a:rPr lang="en-US" sz="1500" dirty="0">
                <a:solidFill>
                  <a:srgbClr val="9FC2E0"/>
                </a:solidFill>
                <a:latin typeface="Calibri" pitchFamily="34" charset="0"/>
                <a:ea typeface="Calibri" pitchFamily="34" charset="-122"/>
                <a:cs typeface="Calibri" pitchFamily="34" charset="-120"/>
              </a:rPr>
              <a:t>DSA 3050A · Group 05</a:t>
            </a:r>
            <a:endParaRPr lang="en-US" sz="1500" dirty="0"/>
          </a:p>
        </p:txBody>
      </p:sp>
      <p:sp>
        <p:nvSpPr>
          <p:cNvPr id="4" name="Text 2"/>
          <p:cNvSpPr/>
          <p:nvPr/>
        </p:nvSpPr>
        <p:spPr>
          <a:xfrm>
            <a:off x="548640" y="2286000"/>
            <a:ext cx="11094415" cy="14630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Airline Delay and Operations Intelligence</a:t>
            </a:r>
            <a:endParaRPr lang="en-US" sz="4000" dirty="0"/>
          </a:p>
        </p:txBody>
      </p:sp>
      <p:sp>
        <p:nvSpPr>
          <p:cNvPr id="5" name="Text 3"/>
          <p:cNvSpPr/>
          <p:nvPr/>
        </p:nvSpPr>
        <p:spPr>
          <a:xfrm>
            <a:off x="548640" y="3566160"/>
            <a:ext cx="11094415" cy="457200"/>
          </a:xfrm>
          <a:prstGeom prst="rect">
            <a:avLst/>
          </a:prstGeom>
          <a:noFill/>
          <a:ln/>
        </p:spPr>
        <p:txBody>
          <a:bodyPr wrap="square" rtlCol="0" anchor="ctr"/>
          <a:lstStyle/>
          <a:p>
            <a:pPr marL="0" indent="0">
              <a:buNone/>
            </a:pPr>
            <a:r>
              <a:rPr lang="en-US" sz="2000" dirty="0">
                <a:solidFill>
                  <a:srgbClr val="BBD6EE"/>
                </a:solidFill>
                <a:latin typeface="Calibri" pitchFamily="34" charset="0"/>
                <a:ea typeface="Calibri" pitchFamily="34" charset="-122"/>
                <a:cs typeface="Calibri" pitchFamily="34" charset="-120"/>
              </a:rPr>
              <a:t>Houston, 2011 — 227,496 flights</a:t>
            </a:r>
            <a:endParaRPr lang="en-US" sz="2000" dirty="0"/>
          </a:p>
        </p:txBody>
      </p:sp>
      <p:sp>
        <p:nvSpPr>
          <p:cNvPr id="6" name="Text 4"/>
          <p:cNvSpPr/>
          <p:nvPr/>
        </p:nvSpPr>
        <p:spPr>
          <a:xfrm>
            <a:off x="548640" y="4206240"/>
            <a:ext cx="11094415" cy="365760"/>
          </a:xfrm>
          <a:prstGeom prst="rect">
            <a:avLst/>
          </a:prstGeom>
          <a:noFill/>
          <a:ln/>
        </p:spPr>
        <p:txBody>
          <a:bodyPr wrap="square" rtlCol="0" anchor="ctr"/>
          <a:lstStyle/>
          <a:p>
            <a:pPr marL="0" indent="0">
              <a:buNone/>
            </a:pPr>
            <a:r>
              <a:rPr lang="en-US" sz="1400" i="1" dirty="0">
                <a:solidFill>
                  <a:srgbClr val="9FC2E0"/>
                </a:solidFill>
                <a:latin typeface="Calibri" pitchFamily="34" charset="0"/>
                <a:ea typeface="Calibri" pitchFamily="34" charset="-122"/>
                <a:cs typeface="Calibri" pitchFamily="34" charset="-120"/>
              </a:rPr>
              <a:t>DSA 3050A — Business Intelligence &amp; Visualization · Group 05</a:t>
            </a:r>
            <a:endParaRPr lang="en-US" sz="1400" dirty="0"/>
          </a:p>
        </p:txBody>
      </p:sp>
      <p:sp>
        <p:nvSpPr>
          <p:cNvPr id="7" name="Text 5"/>
          <p:cNvSpPr/>
          <p:nvPr/>
        </p:nvSpPr>
        <p:spPr>
          <a:xfrm>
            <a:off x="548640" y="4572000"/>
            <a:ext cx="11094415" cy="796954"/>
          </a:xfrm>
          <a:prstGeom prst="rect">
            <a:avLst/>
          </a:prstGeom>
          <a:noFill/>
          <a:ln/>
        </p:spPr>
        <p:txBody>
          <a:bodyPr wrap="square" rtlCol="0" anchor="ctr"/>
          <a:lstStyle/>
          <a:p>
            <a:r>
              <a:rPr lang="en-US" sz="1300" b="1" dirty="0">
                <a:solidFill>
                  <a:srgbClr val="9FC2E0"/>
                </a:solidFill>
                <a:latin typeface="Calibri" pitchFamily="34" charset="0"/>
                <a:ea typeface="Calibri" pitchFamily="34" charset="-122"/>
                <a:cs typeface="Calibri" pitchFamily="34" charset="-120"/>
              </a:rPr>
              <a:t>J. P. Chawanda · Catherine Ingabire · Ruth Musanhu · Faith Chakwanira · Racheal H.  </a:t>
            </a:r>
            <a:r>
              <a:rPr lang="en-US" sz="1300" b="1" dirty="0" err="1">
                <a:solidFill>
                  <a:srgbClr val="9FC2E0"/>
                </a:solidFill>
                <a:latin typeface="Calibri" pitchFamily="34" charset="0"/>
                <a:ea typeface="Calibri" pitchFamily="34" charset="-122"/>
                <a:cs typeface="Calibri" pitchFamily="34" charset="-120"/>
              </a:rPr>
              <a:t>Skiven</a:t>
            </a:r>
            <a:r>
              <a:rPr lang="en-US" sz="1300" b="1" dirty="0">
                <a:solidFill>
                  <a:srgbClr val="9FC2E0"/>
                </a:solidFill>
                <a:latin typeface="Calibri" pitchFamily="34" charset="0"/>
                <a:ea typeface="Calibri" pitchFamily="34" charset="-122"/>
                <a:cs typeface="Calibri" pitchFamily="34" charset="-120"/>
              </a:rPr>
              <a:t>-data</a:t>
            </a:r>
            <a:br>
              <a:rPr lang="en-US" sz="1400" dirty="0"/>
            </a:b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97480"/>
            <a:ext cx="11094415"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Part 1: Airline Delay and Operations Intelligence</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The Business Problem</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Houston Airport System — Operations Performance</a:t>
            </a:r>
            <a:endParaRPr lang="en-US" sz="1500" dirty="0"/>
          </a:p>
        </p:txBody>
      </p:sp>
      <p:sp>
        <p:nvSpPr>
          <p:cNvPr id="4" name="Text 2"/>
          <p:cNvSpPr/>
          <p:nvPr/>
        </p:nvSpPr>
        <p:spPr>
          <a:xfrm>
            <a:off x="548640" y="155448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Delay is the largest controllable cost in airport operations — fuel, crew duty limits, gate reallocation, missed connections, compensation.</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Houston ran 227,496 departures in 2011. 47.8% of operated flights arrived late.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Management could see that the network was late — not where the lateness was being created.</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Without attribution, mitigation spending is guesswork.</a:t>
            </a:r>
            <a:endParaRPr lang="en-US" sz="1700" dirty="0"/>
          </a:p>
        </p:txBody>
      </p:sp>
      <p:sp>
        <p:nvSpPr>
          <p:cNvPr id="5" name="Text 3"/>
          <p:cNvSpPr/>
          <p:nvPr/>
        </p:nvSpPr>
        <p:spPr>
          <a:xfrm>
            <a:off x="548640" y="5486400"/>
            <a:ext cx="11094415" cy="731520"/>
          </a:xfrm>
          <a:prstGeom prst="rect">
            <a:avLst/>
          </a:prstGeom>
          <a:noFill/>
          <a:ln/>
        </p:spPr>
        <p:txBody>
          <a:bodyPr wrap="square" rtlCol="0" anchor="ctr"/>
          <a:lstStyle/>
          <a:p>
            <a:pPr marL="0" indent="0">
              <a:buNone/>
            </a:pPr>
            <a:r>
              <a:rPr lang="en-US" sz="1500" i="1" dirty="0">
                <a:solidFill>
                  <a:srgbClr val="2E75B6"/>
                </a:solidFill>
                <a:latin typeface="Calibri" pitchFamily="34" charset="0"/>
                <a:ea typeface="Calibri" pitchFamily="34" charset="-122"/>
                <a:cs typeface="Calibri" pitchFamily="34" charset="-120"/>
              </a:rPr>
              <a:t>Our brief: attribute delay and cancellation to the carrier, route, airport, hour and month that produced them.</a:t>
            </a:r>
            <a:endParaRPr lang="en-US" sz="1500" dirty="0"/>
          </a:p>
        </p:txBody>
      </p:sp>
      <p:sp>
        <p:nvSpPr>
          <p:cNvPr id="6" name="Text 4"/>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7" name="Text 5"/>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The Data</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hflights — Houston departures, 2011</a:t>
            </a:r>
            <a:endParaRPr lang="en-US" sz="1500" dirty="0"/>
          </a:p>
        </p:txBody>
      </p:sp>
      <p:sp>
        <p:nvSpPr>
          <p:cNvPr id="4" name="Text 2"/>
          <p:cNvSpPr/>
          <p:nvPr/>
        </p:nvSpPr>
        <p:spPr>
          <a:xfrm>
            <a:off x="548640" y="1554480"/>
            <a:ext cx="2218883"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227,496</a:t>
            </a:r>
            <a:endParaRPr lang="en-US" sz="3000" dirty="0"/>
          </a:p>
        </p:txBody>
      </p:sp>
      <p:sp>
        <p:nvSpPr>
          <p:cNvPr id="5" name="Text 3"/>
          <p:cNvSpPr/>
          <p:nvPr/>
        </p:nvSpPr>
        <p:spPr>
          <a:xfrm>
            <a:off x="548640" y="2148840"/>
            <a:ext cx="2218883" cy="365760"/>
          </a:xfrm>
          <a:prstGeom prst="rect">
            <a:avLst/>
          </a:prstGeom>
          <a:noFill/>
          <a:ln/>
        </p:spPr>
        <p:txBody>
          <a:bodyPr wrap="square" rtlCol="0" anchor="ctr"/>
          <a:lstStyle/>
          <a:p>
            <a:pPr marL="0" indent="0" algn="ctr">
              <a:buNone/>
            </a:pPr>
            <a:r>
              <a:rPr lang="en-US" sz="1200" kern="0" spc="100" dirty="0">
                <a:solidFill>
                  <a:srgbClr val="6B6B6B"/>
                </a:solidFill>
                <a:latin typeface="Calibri" pitchFamily="34" charset="0"/>
                <a:ea typeface="Calibri" pitchFamily="34" charset="-122"/>
                <a:cs typeface="Calibri" pitchFamily="34" charset="-120"/>
              </a:rPr>
              <a:t>FLIGHTS</a:t>
            </a:r>
            <a:endParaRPr lang="en-US" sz="1200" dirty="0"/>
          </a:p>
        </p:txBody>
      </p:sp>
      <p:sp>
        <p:nvSpPr>
          <p:cNvPr id="6" name="Text 4"/>
          <p:cNvSpPr/>
          <p:nvPr/>
        </p:nvSpPr>
        <p:spPr>
          <a:xfrm>
            <a:off x="2767523" y="1554480"/>
            <a:ext cx="2218883"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21</a:t>
            </a:r>
            <a:endParaRPr lang="en-US" sz="3000" dirty="0"/>
          </a:p>
        </p:txBody>
      </p:sp>
      <p:sp>
        <p:nvSpPr>
          <p:cNvPr id="7" name="Text 5"/>
          <p:cNvSpPr/>
          <p:nvPr/>
        </p:nvSpPr>
        <p:spPr>
          <a:xfrm>
            <a:off x="2767523" y="2148840"/>
            <a:ext cx="2218883" cy="365760"/>
          </a:xfrm>
          <a:prstGeom prst="rect">
            <a:avLst/>
          </a:prstGeom>
          <a:noFill/>
          <a:ln/>
        </p:spPr>
        <p:txBody>
          <a:bodyPr wrap="square" rtlCol="0" anchor="ctr"/>
          <a:lstStyle/>
          <a:p>
            <a:pPr marL="0" indent="0" algn="ctr">
              <a:buNone/>
            </a:pPr>
            <a:r>
              <a:rPr lang="en-US" sz="1200" kern="0" spc="100" dirty="0">
                <a:solidFill>
                  <a:srgbClr val="6B6B6B"/>
                </a:solidFill>
                <a:latin typeface="Calibri" pitchFamily="34" charset="0"/>
                <a:ea typeface="Calibri" pitchFamily="34" charset="-122"/>
                <a:cs typeface="Calibri" pitchFamily="34" charset="-120"/>
              </a:rPr>
              <a:t>COLUMNS</a:t>
            </a:r>
            <a:endParaRPr lang="en-US" sz="1200" dirty="0"/>
          </a:p>
        </p:txBody>
      </p:sp>
      <p:sp>
        <p:nvSpPr>
          <p:cNvPr id="8" name="Text 6"/>
          <p:cNvSpPr/>
          <p:nvPr/>
        </p:nvSpPr>
        <p:spPr>
          <a:xfrm>
            <a:off x="4986406" y="1554480"/>
            <a:ext cx="2218883"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15</a:t>
            </a:r>
            <a:endParaRPr lang="en-US" sz="3000" dirty="0"/>
          </a:p>
        </p:txBody>
      </p:sp>
      <p:sp>
        <p:nvSpPr>
          <p:cNvPr id="9" name="Text 7"/>
          <p:cNvSpPr/>
          <p:nvPr/>
        </p:nvSpPr>
        <p:spPr>
          <a:xfrm>
            <a:off x="4986406" y="2148840"/>
            <a:ext cx="2218883" cy="365760"/>
          </a:xfrm>
          <a:prstGeom prst="rect">
            <a:avLst/>
          </a:prstGeom>
          <a:noFill/>
          <a:ln/>
        </p:spPr>
        <p:txBody>
          <a:bodyPr wrap="square" rtlCol="0" anchor="ctr"/>
          <a:lstStyle/>
          <a:p>
            <a:pPr marL="0" indent="0" algn="ctr">
              <a:buNone/>
            </a:pPr>
            <a:r>
              <a:rPr lang="en-US" sz="1200" kern="0" spc="100" dirty="0">
                <a:solidFill>
                  <a:srgbClr val="6B6B6B"/>
                </a:solidFill>
                <a:latin typeface="Calibri" pitchFamily="34" charset="0"/>
                <a:ea typeface="Calibri" pitchFamily="34" charset="-122"/>
                <a:cs typeface="Calibri" pitchFamily="34" charset="-120"/>
              </a:rPr>
              <a:t>AIRLINES</a:t>
            </a:r>
            <a:endParaRPr lang="en-US" sz="1200" dirty="0"/>
          </a:p>
        </p:txBody>
      </p:sp>
      <p:sp>
        <p:nvSpPr>
          <p:cNvPr id="10" name="Text 8"/>
          <p:cNvSpPr/>
          <p:nvPr/>
        </p:nvSpPr>
        <p:spPr>
          <a:xfrm>
            <a:off x="7205289" y="1554480"/>
            <a:ext cx="2218883"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149</a:t>
            </a:r>
            <a:endParaRPr lang="en-US" sz="3000" dirty="0"/>
          </a:p>
        </p:txBody>
      </p:sp>
      <p:sp>
        <p:nvSpPr>
          <p:cNvPr id="11" name="Text 9"/>
          <p:cNvSpPr/>
          <p:nvPr/>
        </p:nvSpPr>
        <p:spPr>
          <a:xfrm>
            <a:off x="7205289" y="2148840"/>
            <a:ext cx="2218883" cy="365760"/>
          </a:xfrm>
          <a:prstGeom prst="rect">
            <a:avLst/>
          </a:prstGeom>
          <a:noFill/>
          <a:ln/>
        </p:spPr>
        <p:txBody>
          <a:bodyPr wrap="square" rtlCol="0" anchor="ctr"/>
          <a:lstStyle/>
          <a:p>
            <a:pPr marL="0" indent="0" algn="ctr">
              <a:buNone/>
            </a:pPr>
            <a:r>
              <a:rPr lang="en-US" sz="1200" kern="0" spc="100" dirty="0">
                <a:solidFill>
                  <a:srgbClr val="6B6B6B"/>
                </a:solidFill>
                <a:latin typeface="Calibri" pitchFamily="34" charset="0"/>
                <a:ea typeface="Calibri" pitchFamily="34" charset="-122"/>
                <a:cs typeface="Calibri" pitchFamily="34" charset="-120"/>
              </a:rPr>
              <a:t>ROUTES</a:t>
            </a:r>
            <a:endParaRPr lang="en-US" sz="1200" dirty="0"/>
          </a:p>
        </p:txBody>
      </p:sp>
      <p:sp>
        <p:nvSpPr>
          <p:cNvPr id="12" name="Text 10"/>
          <p:cNvSpPr/>
          <p:nvPr/>
        </p:nvSpPr>
        <p:spPr>
          <a:xfrm>
            <a:off x="9424172" y="1554480"/>
            <a:ext cx="2218883" cy="640080"/>
          </a:xfrm>
          <a:prstGeom prst="rect">
            <a:avLst/>
          </a:prstGeom>
          <a:noFill/>
          <a:ln/>
        </p:spPr>
        <p:txBody>
          <a:bodyPr wrap="square"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116</a:t>
            </a:r>
            <a:endParaRPr lang="en-US" sz="3000" dirty="0"/>
          </a:p>
        </p:txBody>
      </p:sp>
      <p:sp>
        <p:nvSpPr>
          <p:cNvPr id="13" name="Text 11"/>
          <p:cNvSpPr/>
          <p:nvPr/>
        </p:nvSpPr>
        <p:spPr>
          <a:xfrm>
            <a:off x="9424172" y="2148840"/>
            <a:ext cx="2218883" cy="365760"/>
          </a:xfrm>
          <a:prstGeom prst="rect">
            <a:avLst/>
          </a:prstGeom>
          <a:noFill/>
          <a:ln/>
        </p:spPr>
        <p:txBody>
          <a:bodyPr wrap="square" rtlCol="0" anchor="ctr"/>
          <a:lstStyle/>
          <a:p>
            <a:pPr marL="0" indent="0" algn="ctr">
              <a:buNone/>
            </a:pPr>
            <a:r>
              <a:rPr lang="en-US" sz="1200" kern="0" spc="100" dirty="0">
                <a:solidFill>
                  <a:srgbClr val="6B6B6B"/>
                </a:solidFill>
                <a:latin typeface="Calibri" pitchFamily="34" charset="0"/>
                <a:ea typeface="Calibri" pitchFamily="34" charset="-122"/>
                <a:cs typeface="Calibri" pitchFamily="34" charset="-120"/>
              </a:rPr>
              <a:t>DESTINATIONS</a:t>
            </a:r>
            <a:endParaRPr lang="en-US" sz="1200" dirty="0"/>
          </a:p>
        </p:txBody>
      </p:sp>
      <p:sp>
        <p:nvSpPr>
          <p:cNvPr id="14" name="Shape 12"/>
          <p:cNvSpPr/>
          <p:nvPr/>
        </p:nvSpPr>
        <p:spPr>
          <a:xfrm>
            <a:off x="548640" y="2697480"/>
            <a:ext cx="11094415" cy="0"/>
          </a:xfrm>
          <a:prstGeom prst="line">
            <a:avLst/>
          </a:prstGeom>
          <a:noFill/>
          <a:ln w="12700">
            <a:solidFill>
              <a:srgbClr val="D9E2EC"/>
            </a:solidFill>
            <a:prstDash val="solid"/>
          </a:ln>
        </p:spPr>
        <p:txBody>
          <a:bodyPr/>
          <a:lstStyle/>
          <a:p>
            <a:endParaRPr lang="en-US"/>
          </a:p>
        </p:txBody>
      </p:sp>
      <p:sp>
        <p:nvSpPr>
          <p:cNvPr id="15" name="Text 13"/>
          <p:cNvSpPr/>
          <p:nvPr/>
        </p:nvSpPr>
        <p:spPr>
          <a:xfrm>
            <a:off x="548640" y="2971800"/>
            <a:ext cx="11094415" cy="2926080"/>
          </a:xfrm>
          <a:prstGeom prst="rect">
            <a:avLst/>
          </a:prstGeom>
          <a:noFill/>
          <a:ln/>
        </p:spPr>
        <p:txBody>
          <a:bodyPr wrap="square" rtlCol="0" anchor="ctr"/>
          <a:lstStyle/>
          <a:p>
            <a:pPr marL="228600" indent="-228600">
              <a:spcAft>
                <a:spcPts val="1200"/>
              </a:spcAft>
              <a:buSzPct val="100000"/>
              <a:buChar char="●"/>
            </a:pPr>
            <a:r>
              <a:rPr lang="en-US" sz="1600" dirty="0">
                <a:solidFill>
                  <a:srgbClr val="404040"/>
                </a:solidFill>
                <a:latin typeface="Calibri" pitchFamily="34" charset="0"/>
                <a:ea typeface="Calibri" pitchFamily="34" charset="-122"/>
                <a:cs typeface="Calibri" pitchFamily="34" charset="-120"/>
              </a:rPr>
              <a:t>Source: US DOT Bureau of Transportation Statistics, via the R hflights package — genuine public government reporting.</a:t>
            </a:r>
            <a:endParaRPr lang="en-US" sz="1600" dirty="0"/>
          </a:p>
          <a:p>
            <a:pPr marL="228600" indent="-228600">
              <a:spcAft>
                <a:spcPts val="1200"/>
              </a:spcAft>
              <a:buSzPct val="100000"/>
              <a:buChar char="●"/>
            </a:pPr>
            <a:r>
              <a:rPr lang="en-US" sz="1600" dirty="0">
                <a:solidFill>
                  <a:srgbClr val="404040"/>
                </a:solidFill>
                <a:latin typeface="Calibri" pitchFamily="34" charset="0"/>
                <a:ea typeface="Calibri" pitchFamily="34" charset="-122"/>
                <a:cs typeface="Calibri" pitchFamily="34" charset="-120"/>
              </a:rPr>
              <a:t>Period: every commercial departure from IAH and HOU in 2011.</a:t>
            </a:r>
            <a:endParaRPr lang="en-US" sz="1600" dirty="0"/>
          </a:p>
          <a:p>
            <a:pPr marL="228600" indent="-228600">
              <a:spcAft>
                <a:spcPts val="1200"/>
              </a:spcAft>
              <a:buSzPct val="100000"/>
              <a:buChar char="●"/>
            </a:pPr>
            <a:r>
              <a:rPr lang="en-US" sz="1600" dirty="0">
                <a:solidFill>
                  <a:srgbClr val="404040"/>
                </a:solidFill>
                <a:latin typeface="Calibri" pitchFamily="34" charset="0"/>
                <a:ea typeface="Calibri" pitchFamily="34" charset="-122"/>
                <a:cs typeface="Calibri" pitchFamily="34" charset="-120"/>
              </a:rPr>
              <a:t>Structurally clean: zero duplicates, zero blank rows — but times stored as HHMM integers, flags as 0/1, and a 98.69% null rate on cancellation code.</a:t>
            </a:r>
            <a:endParaRPr lang="en-US" sz="1600" dirty="0"/>
          </a:p>
        </p:txBody>
      </p:sp>
      <p:sp>
        <p:nvSpPr>
          <p:cNvPr id="16" name="Text 14"/>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17" name="Text 15"/>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Cleaning and Modelling</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One fact table, three dimensions, 22 measures</a:t>
            </a:r>
            <a:endParaRPr lang="en-US" sz="1500" dirty="0"/>
          </a:p>
        </p:txBody>
      </p:sp>
      <p:sp>
        <p:nvSpPr>
          <p:cNvPr id="4" name="Text 2"/>
          <p:cNvSpPr/>
          <p:nvPr/>
        </p:nvSpPr>
        <p:spPr>
          <a:xfrm>
            <a:off x="548640" y="155448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All 10 required cleaning tasks, and 8 advanced tasks against a requirement of 6.</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Renamed 13 columns to business language; decoded every code and flag.</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Split HHMM integers into real clock times; merged origin and destination into a Route key.</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Derived Flight Status, Delay Category, Distance Band, Time of Day, Season and Delay Recovered.</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Star schema: Fact_Flights + Dim_Date + Dim_Airline + a Group By aggregate table, measures isolated in _Measures.</a:t>
            </a:r>
            <a:endParaRPr lang="en-US" sz="1700" dirty="0"/>
          </a:p>
        </p:txBody>
      </p:sp>
      <p:sp>
        <p:nvSpPr>
          <p:cNvPr id="5" name="Text 3"/>
          <p:cNvSpPr/>
          <p:nvPr/>
        </p:nvSpPr>
        <p:spPr>
          <a:xfrm>
            <a:off x="548640" y="5486400"/>
            <a:ext cx="11094415" cy="731520"/>
          </a:xfrm>
          <a:prstGeom prst="rect">
            <a:avLst/>
          </a:prstGeom>
          <a:noFill/>
          <a:ln/>
        </p:spPr>
        <p:txBody>
          <a:bodyPr wrap="square" rtlCol="0" anchor="ctr"/>
          <a:lstStyle/>
          <a:p>
            <a:pPr marL="0" indent="0">
              <a:buNone/>
            </a:pPr>
            <a:r>
              <a:rPr lang="en-US" sz="1500" i="1" dirty="0">
                <a:solidFill>
                  <a:srgbClr val="2E75B6"/>
                </a:solidFill>
                <a:latin typeface="Calibri" pitchFamily="34" charset="0"/>
                <a:ea typeface="Calibri" pitchFamily="34" charset="-122"/>
                <a:cs typeface="Calibri" pitchFamily="34" charset="-120"/>
              </a:rPr>
              <a:t>The decision that mattered: 3,622 null arrival delays belong to cancelled and diverted flights. We left them null. Filling them with zero would have counted 3,622 flights that never arrived as "on time".</a:t>
            </a:r>
            <a:endParaRPr lang="en-US" sz="1500" dirty="0"/>
          </a:p>
        </p:txBody>
      </p:sp>
      <p:sp>
        <p:nvSpPr>
          <p:cNvPr id="6" name="Text 4"/>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7" name="Text 5"/>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97480"/>
            <a:ext cx="11094415"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Part 2: Power Query Data Preparation and Transformation</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1. Importing the Data</a:t>
            </a:r>
            <a:endParaRPr lang="en-US" sz="2800" dirty="0"/>
          </a:p>
        </p:txBody>
      </p:sp>
      <p:pic>
        <p:nvPicPr>
          <p:cNvPr id="3" name="Image 0" descr="media/image2.png"/>
          <p:cNvPicPr>
            <a:picLocks noChangeAspect="1"/>
          </p:cNvPicPr>
          <p:nvPr/>
        </p:nvPicPr>
        <p:blipFill>
          <a:blip r:embed="rId3"/>
          <a:stretch>
            <a:fillRect/>
          </a:stretch>
        </p:blipFill>
        <p:spPr>
          <a:xfrm>
            <a:off x="3485078" y="1417320"/>
            <a:ext cx="5221539"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The hflights table is selected, then sent to Transform Data instead of Load.</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1. Data in the power query</a:t>
            </a:r>
            <a:endParaRPr lang="en-US" sz="2800" dirty="0"/>
          </a:p>
        </p:txBody>
      </p:sp>
      <p:pic>
        <p:nvPicPr>
          <p:cNvPr id="3" name="Image 0" descr="media/image3.png"/>
          <p:cNvPicPr>
            <a:picLocks noChangeAspect="1"/>
          </p:cNvPicPr>
          <p:nvPr/>
        </p:nvPicPr>
        <p:blipFill>
          <a:blip r:embed="rId3"/>
          <a:stretch>
            <a:fillRect/>
          </a:stretch>
        </p:blipFill>
        <p:spPr>
          <a:xfrm>
            <a:off x="548640" y="1417320"/>
            <a:ext cx="11094415" cy="3704328"/>
          </a:xfrm>
          <a:prstGeom prst="rect">
            <a:avLst/>
          </a:prstGeom>
        </p:spPr>
      </p:pic>
      <p:sp>
        <p:nvSpPr>
          <p:cNvPr id="4" name="Text 1"/>
          <p:cNvSpPr/>
          <p:nvPr/>
        </p:nvSpPr>
        <p:spPr>
          <a:xfrm>
            <a:off x="548640" y="5258808"/>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Power Query Editor after load. Two queries exist (hflights, hflights (2)). Auto steps: Source, Navigation, Promoted Headers, Changed Type.</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548640" y="2788920"/>
            <a:ext cx="11094415" cy="1280160"/>
          </a:xfrm>
          <a:prstGeom prst="rect">
            <a:avLst/>
          </a:prstGeom>
          <a:noFill/>
          <a:ln/>
        </p:spPr>
        <p:txBody>
          <a:bodyPr wrap="square" rtlCol="0" anchor="ctr"/>
          <a:lstStyle/>
          <a:p>
            <a:pPr marL="0" indent="0">
              <a:buNone/>
            </a:pPr>
            <a:r>
              <a:rPr lang="en-US" sz="2600" b="1" dirty="0">
                <a:solidFill>
                  <a:srgbClr val="1F4E79"/>
                </a:solidFill>
                <a:latin typeface="Calibri" pitchFamily="34" charset="0"/>
                <a:ea typeface="Calibri" pitchFamily="34" charset="-122"/>
                <a:cs typeface="Calibri" pitchFamily="34" charset="-120"/>
              </a:rPr>
              <a:t>2. Basic Cleaning</a:t>
            </a:r>
            <a:endParaRPr lang="en-US" sz="2600" dirty="0"/>
          </a:p>
        </p:txBody>
      </p:sp>
      <p:sp>
        <p:nvSpPr>
          <p:cNvPr id="3" name="Text 1"/>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4" name="Text 2"/>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2.1 Rename and Delete Columns</a:t>
            </a:r>
            <a:endParaRPr lang="en-US" sz="2800" dirty="0"/>
          </a:p>
        </p:txBody>
      </p:sp>
      <p:pic>
        <p:nvPicPr>
          <p:cNvPr id="3" name="Image 0" descr="media/image4.png"/>
          <p:cNvPicPr>
            <a:picLocks noChangeAspect="1"/>
          </p:cNvPicPr>
          <p:nvPr/>
        </p:nvPicPr>
        <p:blipFill>
          <a:blip r:embed="rId3"/>
          <a:stretch>
            <a:fillRect/>
          </a:stretch>
        </p:blipFill>
        <p:spPr>
          <a:xfrm>
            <a:off x="548640" y="1417320"/>
            <a:ext cx="11094415" cy="4146109"/>
          </a:xfrm>
          <a:prstGeom prst="rect">
            <a:avLst/>
          </a:prstGeom>
        </p:spPr>
      </p:pic>
      <p:sp>
        <p:nvSpPr>
          <p:cNvPr id="4" name="Text 1"/>
          <p:cNvSpPr/>
          <p:nvPr/>
        </p:nvSpPr>
        <p:spPr>
          <a:xfrm>
            <a:off x="548640" y="5700589"/>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Columns renamed, then unneeded columns (Cancelled, Diverted) removed.</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2.2 Change the Data Types</a:t>
            </a:r>
            <a:endParaRPr lang="en-US" sz="2800" dirty="0"/>
          </a:p>
        </p:txBody>
      </p:sp>
      <p:pic>
        <p:nvPicPr>
          <p:cNvPr id="3" name="Image 0" descr="media/image5.png"/>
          <p:cNvPicPr>
            <a:picLocks noChangeAspect="1"/>
          </p:cNvPicPr>
          <p:nvPr/>
        </p:nvPicPr>
        <p:blipFill>
          <a:blip r:embed="rId3"/>
          <a:stretch>
            <a:fillRect/>
          </a:stretch>
        </p:blipFill>
        <p:spPr>
          <a:xfrm>
            <a:off x="3042279" y="1417320"/>
            <a:ext cx="6107137"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Data type set to Whole Number for a numeric column.</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2.3 Remove Duplicate and Blank Rows</a:t>
            </a:r>
            <a:endParaRPr lang="en-US" sz="2800" dirty="0"/>
          </a:p>
        </p:txBody>
      </p:sp>
      <p:pic>
        <p:nvPicPr>
          <p:cNvPr id="3" name="Image 0" descr="media/image6.png"/>
          <p:cNvPicPr>
            <a:picLocks noChangeAspect="1"/>
          </p:cNvPicPr>
          <p:nvPr/>
        </p:nvPicPr>
        <p:blipFill>
          <a:blip r:embed="rId3"/>
          <a:stretch>
            <a:fillRect/>
          </a:stretch>
        </p:blipFill>
        <p:spPr>
          <a:xfrm>
            <a:off x="1503488" y="1417320"/>
            <a:ext cx="9184719"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Remove Rows &gt; Remove Duplicates, then Remove Blank Rows.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2.4 Trim Text and Clean</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Format &gt; Trim applied to remove extra spaces from text columns.</a:t>
            </a:r>
            <a:endParaRPr lang="en-US" sz="1500" dirty="0"/>
          </a:p>
        </p:txBody>
      </p:sp>
      <p:pic>
        <p:nvPicPr>
          <p:cNvPr id="4" name="Image 0" descr="media/image7.png"/>
          <p:cNvPicPr>
            <a:picLocks noChangeAspect="1"/>
          </p:cNvPicPr>
          <p:nvPr/>
        </p:nvPicPr>
        <p:blipFill>
          <a:blip r:embed="rId3"/>
          <a:stretch>
            <a:fillRect/>
          </a:stretch>
        </p:blipFill>
        <p:spPr>
          <a:xfrm>
            <a:off x="548640" y="2377440"/>
            <a:ext cx="11094415" cy="2707789"/>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2.5 Replace Inconsistent Values</a:t>
            </a:r>
            <a:endParaRPr lang="en-US" sz="2800" dirty="0"/>
          </a:p>
        </p:txBody>
      </p:sp>
      <p:pic>
        <p:nvPicPr>
          <p:cNvPr id="3" name="Image 0" descr="media/image8.png"/>
          <p:cNvPicPr>
            <a:picLocks noChangeAspect="1"/>
          </p:cNvPicPr>
          <p:nvPr/>
        </p:nvPicPr>
        <p:blipFill>
          <a:blip r:embed="rId3"/>
          <a:stretch>
            <a:fillRect/>
          </a:stretch>
        </p:blipFill>
        <p:spPr>
          <a:xfrm>
            <a:off x="3306838" y="1417320"/>
            <a:ext cx="5578020"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Replace Values coded entries (e.g. "1") replaced with readable labels (e.g. "Yes").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2.6 Handle Missing Values</a:t>
            </a:r>
            <a:endParaRPr lang="en-US" sz="2800" dirty="0"/>
          </a:p>
        </p:txBody>
      </p:sp>
      <p:sp>
        <p:nvSpPr>
          <p:cNvPr id="3" name="Text 1"/>
          <p:cNvSpPr/>
          <p:nvPr/>
        </p:nvSpPr>
        <p:spPr>
          <a:xfrm>
            <a:off x="548640" y="1554480"/>
            <a:ext cx="11094415" cy="4206240"/>
          </a:xfrm>
          <a:prstGeom prst="rect">
            <a:avLst/>
          </a:prstGeom>
          <a:noFill/>
          <a:ln/>
        </p:spPr>
        <p:txBody>
          <a:bodyPr wrap="square" rtlCol="0" anchor="t"/>
          <a:lstStyle/>
          <a:p>
            <a:pPr marL="0" indent="0">
              <a:lnSpc>
                <a:spcPts val="2600"/>
              </a:lnSpc>
              <a:buNone/>
            </a:pPr>
            <a:r>
              <a:rPr lang="en-US" sz="1700" dirty="0">
                <a:solidFill>
                  <a:srgbClr val="404040"/>
                </a:solidFill>
                <a:latin typeface="Calibri" pitchFamily="34" charset="0"/>
                <a:ea typeface="Calibri" pitchFamily="34" charset="-122"/>
                <a:cs typeface="Calibri" pitchFamily="34" charset="-120"/>
              </a:rPr>
              <a:t>"NA" entries left blank/null instead of filled in, so averages aren't skewed.</a:t>
            </a:r>
            <a:endParaRPr lang="en-US" sz="170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2.7 Remove Unnecessary Columns</a:t>
            </a:r>
            <a:endParaRPr lang="en-US" sz="2800" dirty="0"/>
          </a:p>
        </p:txBody>
      </p:sp>
      <p:pic>
        <p:nvPicPr>
          <p:cNvPr id="3" name="Image 0" descr="media/image9.png"/>
          <p:cNvPicPr>
            <a:picLocks noChangeAspect="1"/>
          </p:cNvPicPr>
          <p:nvPr/>
        </p:nvPicPr>
        <p:blipFill>
          <a:blip r:embed="rId3"/>
          <a:stretch>
            <a:fillRect/>
          </a:stretch>
        </p:blipFill>
        <p:spPr>
          <a:xfrm>
            <a:off x="1959132" y="1417320"/>
            <a:ext cx="8273431"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Right-click &gt; Remove Columns to drop further unneeded fields (e.g. taxi times).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3.1 Fix Flight Date Type</a:t>
            </a:r>
            <a:endParaRPr lang="en-US" sz="2800" dirty="0"/>
          </a:p>
        </p:txBody>
      </p:sp>
      <p:pic>
        <p:nvPicPr>
          <p:cNvPr id="3" name="Image 0" descr="media/image10.png"/>
          <p:cNvPicPr>
            <a:picLocks noChangeAspect="1"/>
          </p:cNvPicPr>
          <p:nvPr/>
        </p:nvPicPr>
        <p:blipFill>
          <a:blip r:embed="rId3"/>
          <a:stretch>
            <a:fillRect/>
          </a:stretch>
        </p:blipFill>
        <p:spPr>
          <a:xfrm>
            <a:off x="4866258" y="1417320"/>
            <a:ext cx="2459179"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Flight Date column type set to Date for correct sorting and filtering.</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3.2 Create a Custom Column</a:t>
            </a:r>
            <a:endParaRPr lang="en-US" sz="2800" dirty="0"/>
          </a:p>
        </p:txBody>
      </p:sp>
      <p:sp>
        <p:nvSpPr>
          <p:cNvPr id="3" name="Text 1"/>
          <p:cNvSpPr/>
          <p:nvPr/>
        </p:nvSpPr>
        <p:spPr>
          <a:xfrm>
            <a:off x="548640" y="1417320"/>
            <a:ext cx="11094415" cy="365760"/>
          </a:xfrm>
          <a:prstGeom prst="rect">
            <a:avLst/>
          </a:prstGeom>
          <a:noFill/>
          <a:ln/>
        </p:spPr>
        <p:txBody>
          <a:bodyPr wrap="square" rtlCol="0" anchor="ctr"/>
          <a:lstStyle/>
          <a:p>
            <a:pPr marL="0" indent="0">
              <a:buNone/>
            </a:pPr>
            <a:r>
              <a:rPr lang="en-US" sz="1600" dirty="0">
                <a:solidFill>
                  <a:srgbClr val="404040"/>
                </a:solidFill>
                <a:latin typeface="Calibri" pitchFamily="34" charset="0"/>
                <a:ea typeface="Calibri" pitchFamily="34" charset="-122"/>
                <a:cs typeface="Calibri" pitchFamily="34" charset="-120"/>
              </a:rPr>
              <a:t>Custom column "Flight Status" added:</a:t>
            </a:r>
            <a:endParaRPr lang="en-US" sz="1600" dirty="0"/>
          </a:p>
        </p:txBody>
      </p:sp>
      <p:sp>
        <p:nvSpPr>
          <p:cNvPr id="4" name="Text 2"/>
          <p:cNvSpPr/>
          <p:nvPr/>
        </p:nvSpPr>
        <p:spPr>
          <a:xfrm>
            <a:off x="548640" y="1810512"/>
            <a:ext cx="11094415" cy="411480"/>
          </a:xfrm>
          <a:prstGeom prst="rect">
            <a:avLst/>
          </a:prstGeom>
          <a:solidFill>
            <a:srgbClr val="EAF1F8"/>
          </a:solidFill>
          <a:ln/>
        </p:spPr>
        <p:txBody>
          <a:bodyPr wrap="square" rtlCol="0" anchor="ctr"/>
          <a:lstStyle/>
          <a:p>
            <a:pPr marL="0" indent="0">
              <a:buNone/>
            </a:pPr>
            <a:r>
              <a:rPr lang="en-US" sz="1500" dirty="0">
                <a:solidFill>
                  <a:srgbClr val="1F4E79"/>
                </a:solidFill>
                <a:latin typeface="Consolas" pitchFamily="34" charset="0"/>
                <a:ea typeface="Consolas" pitchFamily="34" charset="-122"/>
                <a:cs typeface="Consolas" pitchFamily="34" charset="-120"/>
              </a:rPr>
              <a:t>= if [Cancelled] = 1 then "Cancelled" else "Completed"</a:t>
            </a:r>
            <a:endParaRPr lang="en-US" sz="1500" dirty="0"/>
          </a:p>
        </p:txBody>
      </p:sp>
      <p:pic>
        <p:nvPicPr>
          <p:cNvPr id="5" name="Image 0" descr="media/image11.png"/>
          <p:cNvPicPr>
            <a:picLocks noChangeAspect="1"/>
          </p:cNvPicPr>
          <p:nvPr/>
        </p:nvPicPr>
        <p:blipFill>
          <a:blip r:embed="rId3"/>
          <a:stretch>
            <a:fillRect/>
          </a:stretch>
        </p:blipFill>
        <p:spPr>
          <a:xfrm>
            <a:off x="3350629" y="2423160"/>
            <a:ext cx="5490437" cy="3657600"/>
          </a:xfrm>
          <a:prstGeom prst="rect">
            <a:avLst/>
          </a:prstGeom>
        </p:spPr>
      </p:pic>
      <p:sp>
        <p:nvSpPr>
          <p:cNvPr id="6" name="Text 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7" name="Text 4"/>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3.2 Create a Custom Column (cont.)</a:t>
            </a:r>
            <a:endParaRPr lang="en-US" sz="2800" dirty="0"/>
          </a:p>
        </p:txBody>
      </p:sp>
      <p:pic>
        <p:nvPicPr>
          <p:cNvPr id="3" name="Image 0" descr="media/image12.png"/>
          <p:cNvPicPr>
            <a:picLocks noChangeAspect="1"/>
          </p:cNvPicPr>
          <p:nvPr/>
        </p:nvPicPr>
        <p:blipFill>
          <a:blip r:embed="rId3"/>
          <a:stretch>
            <a:fillRect/>
          </a:stretch>
        </p:blipFill>
        <p:spPr>
          <a:xfrm>
            <a:off x="4771661" y="1417320"/>
            <a:ext cx="2648373"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Flight Status column populated; Applied Steps show the full pipeline so far.</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3.3 Create a Conditional Column</a:t>
            </a:r>
            <a:endParaRPr lang="en-US" sz="2800" dirty="0"/>
          </a:p>
        </p:txBody>
      </p:sp>
      <p:pic>
        <p:nvPicPr>
          <p:cNvPr id="3" name="Image 0" descr="media/image13.png"/>
          <p:cNvPicPr>
            <a:picLocks noChangeAspect="1"/>
          </p:cNvPicPr>
          <p:nvPr/>
        </p:nvPicPr>
        <p:blipFill>
          <a:blip r:embed="rId3"/>
          <a:stretch>
            <a:fillRect/>
          </a:stretch>
        </p:blipFill>
        <p:spPr>
          <a:xfrm>
            <a:off x="1968805" y="1417320"/>
            <a:ext cx="8254086"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"Delay Category" built from Arrival Delay: On Time / Minor Delay / Moderate Delay / Severe Delay.</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3.3 Create a Conditional Column (cont.)</a:t>
            </a:r>
            <a:endParaRPr lang="en-US" sz="2800" dirty="0"/>
          </a:p>
        </p:txBody>
      </p:sp>
      <p:pic>
        <p:nvPicPr>
          <p:cNvPr id="3" name="Image 0" descr="media/image14.png"/>
          <p:cNvPicPr>
            <a:picLocks noChangeAspect="1"/>
          </p:cNvPicPr>
          <p:nvPr/>
        </p:nvPicPr>
        <p:blipFill>
          <a:blip r:embed="rId3"/>
          <a:stretch>
            <a:fillRect/>
          </a:stretch>
        </p:blipFill>
        <p:spPr>
          <a:xfrm>
            <a:off x="5305171" y="1417320"/>
            <a:ext cx="1581354"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Delay Category column populated as expected.</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3.4 Extract Date Parts</a:t>
            </a:r>
            <a:endParaRPr lang="en-US" sz="2800" dirty="0"/>
          </a:p>
        </p:txBody>
      </p:sp>
      <p:pic>
        <p:nvPicPr>
          <p:cNvPr id="3" name="Image 0" descr="media/image15.png"/>
          <p:cNvPicPr>
            <a:picLocks noChangeAspect="1"/>
          </p:cNvPicPr>
          <p:nvPr/>
        </p:nvPicPr>
        <p:blipFill>
          <a:blip r:embed="rId3"/>
          <a:stretch>
            <a:fillRect/>
          </a:stretch>
        </p:blipFill>
        <p:spPr>
          <a:xfrm>
            <a:off x="548640" y="1417320"/>
            <a:ext cx="11094415" cy="4075160"/>
          </a:xfrm>
          <a:prstGeom prst="rect">
            <a:avLst/>
          </a:prstGeom>
        </p:spPr>
      </p:pic>
      <p:sp>
        <p:nvSpPr>
          <p:cNvPr id="4" name="Text 1"/>
          <p:cNvSpPr/>
          <p:nvPr/>
        </p:nvSpPr>
        <p:spPr>
          <a:xfrm>
            <a:off x="548640" y="562964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Year, Month, Day, and Quarter extracted from Flight Date into separate columns.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r>
              <a:rPr lang="en-US" sz="2800" b="1" dirty="0">
                <a:solidFill>
                  <a:srgbClr val="1F4E79"/>
                </a:solidFill>
                <a:latin typeface="Calibri" pitchFamily="34" charset="0"/>
                <a:ea typeface="Calibri" pitchFamily="34" charset="-122"/>
                <a:cs typeface="Calibri" pitchFamily="34" charset="-120"/>
              </a:rPr>
              <a:t>4. Advanced Tasks</a:t>
            </a:r>
            <a:endParaRPr lang="en-US" sz="2800" dirty="0"/>
          </a:p>
          <a:p>
            <a:pPr marL="0" indent="0">
              <a:buNone/>
            </a:pPr>
            <a:endParaRPr lang="en-US" sz="2800" b="1" dirty="0">
              <a:solidFill>
                <a:srgbClr val="1F4E79"/>
              </a:solidFill>
              <a:latin typeface="Calibri" pitchFamily="34" charset="0"/>
              <a:ea typeface="Calibri" pitchFamily="34" charset="-122"/>
              <a:cs typeface="Calibri" pitchFamily="34" charset="-120"/>
            </a:endParaRPr>
          </a:p>
          <a:p>
            <a:pPr marL="0" indent="0">
              <a:buNone/>
            </a:pPr>
            <a:r>
              <a:rPr lang="en-US" sz="2800" b="1" dirty="0">
                <a:solidFill>
                  <a:srgbClr val="1F4E79"/>
                </a:solidFill>
                <a:latin typeface="Calibri" pitchFamily="34" charset="0"/>
                <a:ea typeface="Calibri" pitchFamily="34" charset="-122"/>
                <a:cs typeface="Calibri" pitchFamily="34" charset="-120"/>
              </a:rPr>
              <a:t>4.1 Merge Queries</a:t>
            </a:r>
            <a:endParaRPr lang="en-US" sz="2800" dirty="0"/>
          </a:p>
        </p:txBody>
      </p:sp>
      <p:pic>
        <p:nvPicPr>
          <p:cNvPr id="3" name="Image 0" descr="media/image16.png"/>
          <p:cNvPicPr>
            <a:picLocks noChangeAspect="1"/>
          </p:cNvPicPr>
          <p:nvPr/>
        </p:nvPicPr>
        <p:blipFill>
          <a:blip r:embed="rId3"/>
          <a:stretch>
            <a:fillRect/>
          </a:stretch>
        </p:blipFill>
        <p:spPr>
          <a:xfrm>
            <a:off x="3741806" y="1417320"/>
            <a:ext cx="4708083"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hflights merged with hflights (2), Left Outer join — 227,496 of 227,496 rows matched.</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4.2 Append Queries</a:t>
            </a:r>
            <a:endParaRPr lang="en-US" sz="2800" dirty="0"/>
          </a:p>
        </p:txBody>
      </p:sp>
      <p:pic>
        <p:nvPicPr>
          <p:cNvPr id="3" name="Image 0" descr="media/image17.png"/>
          <p:cNvPicPr>
            <a:picLocks noChangeAspect="1"/>
          </p:cNvPicPr>
          <p:nvPr/>
        </p:nvPicPr>
        <p:blipFill>
          <a:blip r:embed="rId3"/>
          <a:stretch>
            <a:fillRect/>
          </a:stretch>
        </p:blipFill>
        <p:spPr>
          <a:xfrm>
            <a:off x="1240413" y="1417320"/>
            <a:ext cx="9710869"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hflights and hflights (2) appended (stacked) into one table.</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4.2 Append Queries (cont.)</a:t>
            </a:r>
            <a:endParaRPr lang="en-US" sz="2800" dirty="0"/>
          </a:p>
        </p:txBody>
      </p:sp>
      <p:pic>
        <p:nvPicPr>
          <p:cNvPr id="3" name="Image 0" descr="media/image18.png"/>
          <p:cNvPicPr>
            <a:picLocks noChangeAspect="1"/>
          </p:cNvPicPr>
          <p:nvPr/>
        </p:nvPicPr>
        <p:blipFill>
          <a:blip r:embed="rId3"/>
          <a:stretch>
            <a:fillRect/>
          </a:stretch>
        </p:blipFill>
        <p:spPr>
          <a:xfrm>
            <a:off x="3182576" y="1417320"/>
            <a:ext cx="5826543"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New Append1 query confirms the combined table.</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4.3 Unpivot Columns</a:t>
            </a:r>
            <a:endParaRPr lang="en-US" sz="2800" dirty="0"/>
          </a:p>
        </p:txBody>
      </p:sp>
      <p:pic>
        <p:nvPicPr>
          <p:cNvPr id="3" name="Image 0" descr="media/image19.png"/>
          <p:cNvPicPr>
            <a:picLocks noChangeAspect="1"/>
          </p:cNvPicPr>
          <p:nvPr/>
        </p:nvPicPr>
        <p:blipFill>
          <a:blip r:embed="rId3"/>
          <a:stretch>
            <a:fillRect/>
          </a:stretch>
        </p:blipFill>
        <p:spPr>
          <a:xfrm>
            <a:off x="2176164" y="1417320"/>
            <a:ext cx="7839367"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Unpivot Columns used to reshape wide columns into Attribute/Value pairs.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4.4 Create New Parameters</a:t>
            </a:r>
            <a:endParaRPr lang="en-US" sz="2800" dirty="0"/>
          </a:p>
        </p:txBody>
      </p:sp>
      <p:pic>
        <p:nvPicPr>
          <p:cNvPr id="3" name="Image 0" descr="media/image20.png"/>
          <p:cNvPicPr>
            <a:picLocks noChangeAspect="1"/>
          </p:cNvPicPr>
          <p:nvPr/>
        </p:nvPicPr>
        <p:blipFill>
          <a:blip r:embed="rId3"/>
          <a:stretch>
            <a:fillRect/>
          </a:stretch>
        </p:blipFill>
        <p:spPr>
          <a:xfrm>
            <a:off x="4192718" y="1417320"/>
            <a:ext cx="3806260"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Parameter "MinimumDelay" created — Decimal Number, current value 15.</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4.4 Create New Parameters (cont.)</a:t>
            </a:r>
            <a:endParaRPr lang="en-US" sz="2800" dirty="0"/>
          </a:p>
        </p:txBody>
      </p:sp>
      <p:pic>
        <p:nvPicPr>
          <p:cNvPr id="3" name="Image 0" descr="media/image21.png"/>
          <p:cNvPicPr>
            <a:picLocks noChangeAspect="1"/>
          </p:cNvPicPr>
          <p:nvPr/>
        </p:nvPicPr>
        <p:blipFill>
          <a:blip r:embed="rId3"/>
          <a:stretch>
            <a:fillRect/>
          </a:stretch>
        </p:blipFill>
        <p:spPr>
          <a:xfrm>
            <a:off x="857167" y="1417320"/>
            <a:ext cx="10477361"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MinimumDelay parameter appears in the Queries list, ready to be referenced.</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4.5 Create a Reference Query</a:t>
            </a:r>
            <a:endParaRPr lang="en-US" sz="2800" dirty="0"/>
          </a:p>
        </p:txBody>
      </p:sp>
      <p:pic>
        <p:nvPicPr>
          <p:cNvPr id="3" name="Image 0" descr="media/image22.png"/>
          <p:cNvPicPr>
            <a:picLocks noChangeAspect="1"/>
          </p:cNvPicPr>
          <p:nvPr/>
        </p:nvPicPr>
        <p:blipFill>
          <a:blip r:embed="rId3"/>
          <a:stretch>
            <a:fillRect/>
          </a:stretch>
        </p:blipFill>
        <p:spPr>
          <a:xfrm>
            <a:off x="3074123" y="1417320"/>
            <a:ext cx="6043448"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"Flight Summary" created as a reference query, built on an existing query's output.</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4.6 Nested Conditional Column</a:t>
            </a:r>
            <a:endParaRPr lang="en-US" sz="2800" dirty="0"/>
          </a:p>
        </p:txBody>
      </p:sp>
      <p:pic>
        <p:nvPicPr>
          <p:cNvPr id="3" name="Image 0" descr="media/image23.png"/>
          <p:cNvPicPr>
            <a:picLocks noChangeAspect="1"/>
          </p:cNvPicPr>
          <p:nvPr/>
        </p:nvPicPr>
        <p:blipFill>
          <a:blip r:embed="rId3"/>
          <a:stretch>
            <a:fillRect/>
          </a:stretch>
        </p:blipFill>
        <p:spPr>
          <a:xfrm>
            <a:off x="1691556" y="1417320"/>
            <a:ext cx="8808583"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"Distance Category" built from Distance: short Haul / Medium Haul / long Haul.</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548640" y="176169"/>
            <a:ext cx="11094415" cy="604007"/>
          </a:xfrm>
          <a:prstGeom prst="rect">
            <a:avLst/>
          </a:prstGeom>
          <a:noFill/>
          <a:ln/>
        </p:spPr>
        <p:txBody>
          <a:bodyPr wrap="square" rtlCol="0" anchor="ctr"/>
          <a:lstStyle/>
          <a:p>
            <a:pPr marL="0" indent="0">
              <a:buNone/>
            </a:pPr>
            <a:r>
              <a:rPr lang="en-US" sz="2600" b="1" dirty="0">
                <a:solidFill>
                  <a:srgbClr val="1F4E79"/>
                </a:solidFill>
                <a:latin typeface="Calibri" pitchFamily="34" charset="0"/>
                <a:ea typeface="Calibri" pitchFamily="34" charset="-122"/>
                <a:cs typeface="Calibri" pitchFamily="34" charset="-120"/>
              </a:rPr>
              <a:t>4.6 Column distribution, column profiling, column quality</a:t>
            </a:r>
            <a:endParaRPr lang="en-US" sz="2600" dirty="0"/>
          </a:p>
        </p:txBody>
      </p:sp>
      <p:sp>
        <p:nvSpPr>
          <p:cNvPr id="3" name="Text 1"/>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4" name="Text 2"/>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35</a:t>
            </a:r>
            <a:endParaRPr lang="en-US" sz="900" dirty="0"/>
          </a:p>
        </p:txBody>
      </p:sp>
      <p:sp>
        <p:nvSpPr>
          <p:cNvPr id="5" name="Rectangle 4">
            <a:extLst>
              <a:ext uri="{FF2B5EF4-FFF2-40B4-BE49-F238E27FC236}">
                <a16:creationId xmlns:a16="http://schemas.microsoft.com/office/drawing/2014/main" id="{80BF5F37-63A3-7F23-6DBA-6C13ACF465F7}"/>
              </a:ext>
            </a:extLst>
          </p:cNvPr>
          <p:cNvSpPr/>
          <p:nvPr/>
        </p:nvSpPr>
        <p:spPr>
          <a:xfrm>
            <a:off x="813732" y="704675"/>
            <a:ext cx="9362114" cy="58058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pic>
        <p:nvPicPr>
          <p:cNvPr id="7" name="Picture 6">
            <a:extLst>
              <a:ext uri="{FF2B5EF4-FFF2-40B4-BE49-F238E27FC236}">
                <a16:creationId xmlns:a16="http://schemas.microsoft.com/office/drawing/2014/main" id="{EC429649-C29C-9ADA-1278-5A428787E6AB}"/>
              </a:ext>
            </a:extLst>
          </p:cNvPr>
          <p:cNvPicPr>
            <a:picLocks noChangeAspect="1"/>
          </p:cNvPicPr>
          <p:nvPr/>
        </p:nvPicPr>
        <p:blipFill>
          <a:blip r:embed="rId3"/>
          <a:stretch>
            <a:fillRect/>
          </a:stretch>
        </p:blipFill>
        <p:spPr>
          <a:xfrm>
            <a:off x="0" y="704675"/>
            <a:ext cx="11629383" cy="580585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97480"/>
            <a:ext cx="11094415"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Part 3: Data Modelling</a:t>
            </a:r>
            <a:endParaRPr lang="en-US" sz="3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Data Modelling</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Star Schema design pattern</a:t>
            </a:r>
            <a:endParaRPr lang="en-US" sz="1500" dirty="0"/>
          </a:p>
        </p:txBody>
      </p:sp>
      <p:pic>
        <p:nvPicPr>
          <p:cNvPr id="4" name="Image 0" descr="media/image24.png"/>
          <p:cNvPicPr>
            <a:picLocks noChangeAspect="1"/>
          </p:cNvPicPr>
          <p:nvPr/>
        </p:nvPicPr>
        <p:blipFill>
          <a:blip r:embed="rId3"/>
          <a:stretch>
            <a:fillRect/>
          </a:stretch>
        </p:blipFill>
        <p:spPr>
          <a:xfrm>
            <a:off x="3422012" y="1417320"/>
            <a:ext cx="5347672" cy="2834640"/>
          </a:xfrm>
          <a:prstGeom prst="rect">
            <a:avLst/>
          </a:prstGeom>
        </p:spPr>
      </p:pic>
      <p:sp>
        <p:nvSpPr>
          <p:cNvPr id="5" name="Text 2"/>
          <p:cNvSpPr/>
          <p:nvPr/>
        </p:nvSpPr>
        <p:spPr>
          <a:xfrm>
            <a:off x="548640" y="4389120"/>
            <a:ext cx="11094415" cy="1371600"/>
          </a:xfrm>
          <a:prstGeom prst="rect">
            <a:avLst/>
          </a:prstGeom>
          <a:noFill/>
          <a:ln/>
        </p:spPr>
        <p:txBody>
          <a:bodyPr wrap="square" rtlCol="0" anchor="ctr"/>
          <a:lstStyle/>
          <a:p>
            <a:pPr marL="0" indent="0">
              <a:buNone/>
            </a:pPr>
            <a:r>
              <a:rPr lang="en-US" sz="1350" dirty="0">
                <a:solidFill>
                  <a:srgbClr val="404040"/>
                </a:solidFill>
                <a:latin typeface="Calibri" pitchFamily="34" charset="0"/>
                <a:ea typeface="Calibri" pitchFamily="34" charset="-122"/>
                <a:cs typeface="Calibri" pitchFamily="34" charset="-120"/>
              </a:rPr>
              <a:t>The Power BI data model for the Airline Delay and Operations Dashboard is constructed using a standard Star Schema design pattern. The model separates quantitative transactional data (facts) from descriptive background details (dimensions) to ensure optimal query performance, clear data relationships, and intuitive reporting.</a:t>
            </a:r>
            <a:endParaRPr lang="en-US" sz="1350" dirty="0"/>
          </a:p>
        </p:txBody>
      </p:sp>
      <p:sp>
        <p:nvSpPr>
          <p:cNvPr id="6" name="Text 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7" name="Text 4"/>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The Model — Four Primary Tables</a:t>
            </a:r>
            <a:endParaRPr lang="en-US" sz="2800" dirty="0"/>
          </a:p>
        </p:txBody>
      </p:sp>
      <p:sp>
        <p:nvSpPr>
          <p:cNvPr id="3" name="Text 1"/>
          <p:cNvSpPr/>
          <p:nvPr/>
        </p:nvSpPr>
        <p:spPr>
          <a:xfrm>
            <a:off x="548640" y="137160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clean_Hflight_dataset (Central Fact Table)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Dim Airline (Dimension Table)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Dim_Date (Dimension Table)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Summary_Airline_Performance (Aggregated Table)</a:t>
            </a:r>
            <a:endParaRPr lang="en-US" sz="170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Table Classification &amp; Structural Interpretation</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A. Central Fact Table: clean_Hflight_dataset</a:t>
            </a:r>
            <a:endParaRPr lang="en-US" sz="1500" dirty="0"/>
          </a:p>
        </p:txBody>
      </p:sp>
      <p:sp>
        <p:nvSpPr>
          <p:cNvPr id="4" name="Text 2"/>
          <p:cNvSpPr/>
          <p:nvPr/>
        </p:nvSpPr>
        <p:spPr>
          <a:xfrm>
            <a:off x="548640" y="155448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Classification: Fact Table.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Interpretation: This table serves as the primary engine for analysis. It stores individual flight record details and transactional metrics. It contains numerical fields required to calculate Key Performance Indicators (KPIs), such as Arrival Delay, Departure Delay, AirTime, Distance, ActualElapsedTime, and operational flags such as Cancelled.</a:t>
            </a:r>
            <a:endParaRPr lang="en-US" sz="1700" dirty="0"/>
          </a:p>
        </p:txBody>
      </p:sp>
      <p:sp>
        <p:nvSpPr>
          <p:cNvPr id="5" name="Text 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4"/>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Dimension Tables: Dim_Airline &amp; Dim_Date</a:t>
            </a:r>
            <a:endParaRPr lang="en-US" sz="2800" dirty="0"/>
          </a:p>
        </p:txBody>
      </p:sp>
      <p:sp>
        <p:nvSpPr>
          <p:cNvPr id="3" name="Text 1"/>
          <p:cNvSpPr/>
          <p:nvPr/>
        </p:nvSpPr>
        <p:spPr>
          <a:xfrm>
            <a:off x="548640" y="137160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Classification: Dimension Tables (Lookup Tables).</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Interpretation: These tables provide descriptive attributes that allow users to filter, group, and slice the flight metrics stored in the Fact table.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Dim_Airline: Contains distinct airline identifiers (Airline), allowing the dashboard to break down performance, delays, and cancellations by carrier.</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Dim_Date: Contains detailed temporal attributes (Date, Day of Week, Month, Month Name, Quarter, Year). This enables trend analysis, identifying peak travel periods, seasonal delay patterns, and month-over-month performance.</a:t>
            </a:r>
            <a:endParaRPr lang="en-US" sz="170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Standalone Summary Table: Summary_Airline_Performance</a:t>
            </a:r>
            <a:endParaRPr lang="en-US" sz="2800" dirty="0"/>
          </a:p>
        </p:txBody>
      </p:sp>
      <p:sp>
        <p:nvSpPr>
          <p:cNvPr id="3" name="Text 1"/>
          <p:cNvSpPr/>
          <p:nvPr/>
        </p:nvSpPr>
        <p:spPr>
          <a:xfrm>
            <a:off x="548640" y="137160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Classification: Aggregated Reference Table.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Interpretation: Contains pre-calculated summary metrics (Average Arrival Delay, Total Cancellations, Total Flights) per airline. It acts as an auxiliary table for high-level summary cards or quick verification against detailed DAX measures.</a:t>
            </a:r>
            <a:endParaRPr lang="en-US" sz="170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Data Relationships and Cardinality</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The integrity of the model is maintained through proper database relationships</a:t>
            </a:r>
            <a:endParaRPr lang="en-US" sz="1500" dirty="0"/>
          </a:p>
        </p:txBody>
      </p:sp>
      <p:sp>
        <p:nvSpPr>
          <p:cNvPr id="4" name="Text 2"/>
          <p:cNvSpPr/>
          <p:nvPr/>
        </p:nvSpPr>
        <p:spPr>
          <a:xfrm>
            <a:off x="548640" y="155448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Dim_Airline to clean_Hflight_dataset — Cardinality: One-to-Many (1:*). Direction: single-direction filter flowing from Dim_Airline to clean_Hflight_dataset. Meaning: a single airline in the dimension table links to multiple flight records in the fact table; filtering by an airline automatically isolates all relevant flights for that carrier.</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Dim_Date to clean_Hflight_dataset — Cardinality: One-to-Many (1:*). Direction: single-direction filter flowing from Dim_Date to clean_Hflight_dataset. Meaning: a unique calendar date connects to multiple flights occurring on that day; selecting a month, quarter, or date range dynamically filters all operational metrics in the fact table.</a:t>
            </a:r>
            <a:endParaRPr lang="en-US" sz="1700" dirty="0"/>
          </a:p>
        </p:txBody>
      </p:sp>
      <p:sp>
        <p:nvSpPr>
          <p:cNvPr id="5" name="Text 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4"/>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3">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97480"/>
            <a:ext cx="11094415"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Part 4: DAX Measures</a:t>
            </a:r>
            <a:endParaRPr lang="en-US" sz="3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DAX Measures</a:t>
            </a:r>
            <a:endParaRPr lang="en-US" sz="2800" dirty="0"/>
          </a:p>
        </p:txBody>
      </p:sp>
      <p:sp>
        <p:nvSpPr>
          <p:cNvPr id="3" name="Text 1"/>
          <p:cNvSpPr/>
          <p:nvPr/>
        </p:nvSpPr>
        <p:spPr>
          <a:xfrm>
            <a:off x="548640" y="1371600"/>
            <a:ext cx="11094415" cy="914400"/>
          </a:xfrm>
          <a:prstGeom prst="rect">
            <a:avLst/>
          </a:prstGeom>
          <a:noFill/>
          <a:ln/>
        </p:spPr>
        <p:txBody>
          <a:bodyPr wrap="square" rtlCol="0" anchor="ctr"/>
          <a:lstStyle/>
          <a:p>
            <a:pPr marL="0" indent="0">
              <a:buNone/>
            </a:pPr>
            <a:r>
              <a:rPr lang="en-US" sz="1400" dirty="0">
                <a:solidFill>
                  <a:srgbClr val="404040"/>
                </a:solidFill>
                <a:latin typeface="Calibri" pitchFamily="34" charset="0"/>
                <a:ea typeface="Calibri" pitchFamily="34" charset="-122"/>
                <a:cs typeface="Calibri" pitchFamily="34" charset="-120"/>
              </a:rPr>
              <a:t>We created and tested 22 DAX measures covering flight volumes, delay performance, time intelligence, percentages, rankings, KPI statuses and dynamic titles. The measures were organised into display folders and prepared for use in KPI cards, trend charts, ranking tables, slicers and drill-through analysis.</a:t>
            </a:r>
            <a:endParaRPr lang="en-US" sz="1400" dirty="0"/>
          </a:p>
        </p:txBody>
      </p:sp>
      <p:pic>
        <p:nvPicPr>
          <p:cNvPr id="4" name="Image 0" descr="media/image25.png"/>
          <p:cNvPicPr>
            <a:picLocks noChangeAspect="1"/>
          </p:cNvPicPr>
          <p:nvPr/>
        </p:nvPicPr>
        <p:blipFill>
          <a:blip r:embed="rId3"/>
          <a:stretch>
            <a:fillRect/>
          </a:stretch>
        </p:blipFill>
        <p:spPr>
          <a:xfrm>
            <a:off x="693006" y="2377440"/>
            <a:ext cx="3226526" cy="3566160"/>
          </a:xfrm>
          <a:prstGeom prst="rect">
            <a:avLst/>
          </a:prstGeom>
        </p:spPr>
      </p:pic>
      <p:pic>
        <p:nvPicPr>
          <p:cNvPr id="5" name="Image 1" descr="media/image26.png"/>
          <p:cNvPicPr>
            <a:picLocks noChangeAspect="1"/>
          </p:cNvPicPr>
          <p:nvPr/>
        </p:nvPicPr>
        <p:blipFill>
          <a:blip r:embed="rId4"/>
          <a:stretch>
            <a:fillRect/>
          </a:stretch>
        </p:blipFill>
        <p:spPr>
          <a:xfrm>
            <a:off x="5156547" y="2377440"/>
            <a:ext cx="1878602" cy="3566160"/>
          </a:xfrm>
          <a:prstGeom prst="rect">
            <a:avLst/>
          </a:prstGeom>
        </p:spPr>
      </p:pic>
      <p:pic>
        <p:nvPicPr>
          <p:cNvPr id="6" name="Image 2" descr="media/image27.png"/>
          <p:cNvPicPr>
            <a:picLocks noChangeAspect="1"/>
          </p:cNvPicPr>
          <p:nvPr/>
        </p:nvPicPr>
        <p:blipFill>
          <a:blip r:embed="rId5"/>
          <a:stretch>
            <a:fillRect/>
          </a:stretch>
        </p:blipFill>
        <p:spPr>
          <a:xfrm>
            <a:off x="8127797" y="2377440"/>
            <a:ext cx="3515258" cy="2591376"/>
          </a:xfrm>
          <a:prstGeom prst="rect">
            <a:avLst/>
          </a:prstGeom>
        </p:spPr>
      </p:pic>
      <p:sp>
        <p:nvSpPr>
          <p:cNvPr id="7"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8"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97480"/>
            <a:ext cx="11094415"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Part 5: Advanced Dashboard Design and Visuals</a:t>
            </a:r>
            <a:endParaRPr lang="en-US" sz="3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6">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548640" y="2788920"/>
            <a:ext cx="11094415" cy="1280160"/>
          </a:xfrm>
          <a:prstGeom prst="rect">
            <a:avLst/>
          </a:prstGeom>
          <a:noFill/>
          <a:ln/>
        </p:spPr>
        <p:txBody>
          <a:bodyPr wrap="square" rtlCol="0" anchor="ctr"/>
          <a:lstStyle/>
          <a:p>
            <a:pPr marL="0" indent="0">
              <a:buNone/>
            </a:pPr>
            <a:r>
              <a:rPr lang="en-US" sz="2600" b="1" dirty="0">
                <a:solidFill>
                  <a:srgbClr val="1F4E79"/>
                </a:solidFill>
                <a:latin typeface="Calibri" pitchFamily="34" charset="0"/>
                <a:ea typeface="Calibri" pitchFamily="34" charset="-122"/>
                <a:cs typeface="Calibri" pitchFamily="34" charset="-120"/>
              </a:rPr>
              <a:t>Airline Delay and Operations Dashboard</a:t>
            </a:r>
            <a:endParaRPr lang="en-US" sz="2600" dirty="0"/>
          </a:p>
        </p:txBody>
      </p:sp>
      <p:sp>
        <p:nvSpPr>
          <p:cNvPr id="3" name="Text 1"/>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4" name="Text 2"/>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1. Geographic and Segment Analysis — Flight Volume by Destination</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My section focused on analysing flight destinations, airline performance, monthly activity and delay patterns using Power BI. The map was used to show how flights are distributed across different destinations. The results show that flight activity is concentrated in certain areas, particularly North America. Some destinations have much higher flight volumes than others.</a:t>
            </a:r>
            <a:endParaRPr lang="en-US" sz="1500" dirty="0"/>
          </a:p>
        </p:txBody>
      </p:sp>
      <p:pic>
        <p:nvPicPr>
          <p:cNvPr id="4" name="Image 0" descr="media/image28.png"/>
          <p:cNvPicPr>
            <a:picLocks noChangeAspect="1"/>
          </p:cNvPicPr>
          <p:nvPr/>
        </p:nvPicPr>
        <p:blipFill>
          <a:blip r:embed="rId3"/>
          <a:stretch>
            <a:fillRect/>
          </a:stretch>
        </p:blipFill>
        <p:spPr>
          <a:xfrm>
            <a:off x="3525077" y="2743200"/>
            <a:ext cx="5141541" cy="292608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Airline Performance by Month</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The matrix compares airlines across months using Total Flights, Delayed Flights and Severe Delay Rate. For example, in Month 1, Continental Airlines recorded approximately 6,001 flights, while Southwest Airlines recorded 3,667 flights. Southwest had a severe delay rate of 3.9%, compared with 2.5% for Continental.</a:t>
            </a:r>
            <a:endParaRPr lang="en-US" sz="1500" dirty="0"/>
          </a:p>
        </p:txBody>
      </p:sp>
      <p:pic>
        <p:nvPicPr>
          <p:cNvPr id="4" name="Image 0" descr="media/image29.png"/>
          <p:cNvPicPr>
            <a:picLocks noChangeAspect="1"/>
          </p:cNvPicPr>
          <p:nvPr/>
        </p:nvPicPr>
        <p:blipFill>
          <a:blip r:embed="rId3"/>
          <a:stretch>
            <a:fillRect/>
          </a:stretch>
        </p:blipFill>
        <p:spPr>
          <a:xfrm>
            <a:off x="4037529" y="2560320"/>
            <a:ext cx="4116638" cy="310896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Monthly Flight Activity</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The ribbon chart was used to examine changes in airline flight activity across months. It shows that flight volumes vary throughout the year, helping identify possible seasonal travel patterns.</a:t>
            </a:r>
            <a:endParaRPr lang="en-US" sz="1500" dirty="0"/>
          </a:p>
        </p:txBody>
      </p:sp>
      <p:pic>
        <p:nvPicPr>
          <p:cNvPr id="4" name="Image 0" descr="media/image30.png"/>
          <p:cNvPicPr>
            <a:picLocks noChangeAspect="1"/>
          </p:cNvPicPr>
          <p:nvPr/>
        </p:nvPicPr>
        <p:blipFill>
          <a:blip r:embed="rId3"/>
          <a:stretch>
            <a:fillRect/>
          </a:stretch>
        </p:blipFill>
        <p:spPr>
          <a:xfrm>
            <a:off x="4257444" y="2286000"/>
            <a:ext cx="3676807" cy="338328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0">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548640" y="2788920"/>
            <a:ext cx="11094415" cy="1280160"/>
          </a:xfrm>
          <a:prstGeom prst="rect">
            <a:avLst/>
          </a:prstGeom>
          <a:noFill/>
          <a:ln/>
        </p:spPr>
        <p:txBody>
          <a:bodyPr wrap="square" rtlCol="0" anchor="ctr"/>
          <a:lstStyle/>
          <a:p>
            <a:pPr marL="0" indent="0">
              <a:buNone/>
            </a:pPr>
            <a:r>
              <a:rPr lang="en-US" sz="2600" b="1" dirty="0">
                <a:solidFill>
                  <a:srgbClr val="1F4E79"/>
                </a:solidFill>
                <a:latin typeface="Calibri" pitchFamily="34" charset="0"/>
                <a:ea typeface="Calibri" pitchFamily="34" charset="-122"/>
                <a:cs typeface="Calibri" pitchFamily="34" charset="-120"/>
              </a:rPr>
              <a:t>2. Detailed Airline Analysis</a:t>
            </a:r>
            <a:endParaRPr lang="en-US" sz="2600" dirty="0"/>
          </a:p>
        </p:txBody>
      </p:sp>
      <p:sp>
        <p:nvSpPr>
          <p:cNvPr id="3" name="Text 1"/>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4" name="Text 2"/>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Detailed Airline Analysis — Drill-through</a:t>
            </a:r>
            <a:endParaRPr lang="en-US" sz="2800" dirty="0"/>
          </a:p>
        </p:txBody>
      </p:sp>
      <p:sp>
        <p:nvSpPr>
          <p:cNvPr id="3" name="Text 1"/>
          <p:cNvSpPr/>
          <p:nvPr/>
        </p:nvSpPr>
        <p:spPr>
          <a:xfrm>
            <a:off x="548640" y="137160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A drill-through page was created to allow users to select an airline and view its detailed performance.</a:t>
            </a:r>
            <a:endParaRPr lang="en-US" sz="170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Delta Air Lines — Dashboard Summary</a:t>
            </a:r>
            <a:endParaRPr lang="en-US" sz="2800" dirty="0"/>
          </a:p>
        </p:txBody>
      </p:sp>
      <p:sp>
        <p:nvSpPr>
          <p:cNvPr id="3" name="Text 1"/>
          <p:cNvSpPr/>
          <p:nvPr/>
        </p:nvSpPr>
        <p:spPr>
          <a:xfrm>
            <a:off x="548640" y="1417320"/>
            <a:ext cx="4206240" cy="4023360"/>
          </a:xfrm>
          <a:prstGeom prst="rect">
            <a:avLst/>
          </a:prstGeom>
          <a:noFill/>
          <a:ln/>
        </p:spPr>
        <p:txBody>
          <a:bodyPr wrap="square" rtlCol="0" anchor="ctr"/>
          <a:lstStyle/>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Total Flights: 224K</a:t>
            </a:r>
            <a:endParaRPr lang="en-US" sz="1550" dirty="0"/>
          </a:p>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On-Time Rate: 61.3%</a:t>
            </a:r>
            <a:endParaRPr lang="en-US" sz="1550" dirty="0"/>
          </a:p>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Average Distance: 723.35</a:t>
            </a:r>
            <a:endParaRPr lang="en-US" sz="1550" dirty="0"/>
          </a:p>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Total Routes: 4</a:t>
            </a:r>
            <a:endParaRPr lang="en-US" sz="1550" dirty="0"/>
          </a:p>
        </p:txBody>
      </p:sp>
      <p:sp>
        <p:nvSpPr>
          <p:cNvPr id="4" name="Text 2"/>
          <p:cNvSpPr/>
          <p:nvPr/>
        </p:nvSpPr>
        <p:spPr>
          <a:xfrm>
            <a:off x="548640" y="3886200"/>
            <a:ext cx="4206240" cy="1188720"/>
          </a:xfrm>
          <a:prstGeom prst="rect">
            <a:avLst/>
          </a:prstGeom>
          <a:noFill/>
          <a:ln/>
        </p:spPr>
        <p:txBody>
          <a:bodyPr wrap="square" rtlCol="0" anchor="ctr"/>
          <a:lstStyle/>
          <a:p>
            <a:pPr marL="0" indent="0">
              <a:buNone/>
            </a:pPr>
            <a:r>
              <a:rPr lang="en-US" sz="1350" i="1" dirty="0">
                <a:solidFill>
                  <a:srgbClr val="6B6B6B"/>
                </a:solidFill>
                <a:latin typeface="Calibri" pitchFamily="34" charset="0"/>
                <a:ea typeface="Calibri" pitchFamily="34" charset="-122"/>
                <a:cs typeface="Calibri" pitchFamily="34" charset="-120"/>
              </a:rPr>
              <a:t>The on-time rate of 61.3% indicates that there is still room for improvement in airline schedule reliability.</a:t>
            </a:r>
            <a:endParaRPr lang="en-US" sz="1350" dirty="0"/>
          </a:p>
        </p:txBody>
      </p:sp>
      <p:pic>
        <p:nvPicPr>
          <p:cNvPr id="5" name="Image 0" descr="media/image31.png"/>
          <p:cNvPicPr>
            <a:picLocks noChangeAspect="1"/>
          </p:cNvPicPr>
          <p:nvPr/>
        </p:nvPicPr>
        <p:blipFill>
          <a:blip r:embed="rId3"/>
          <a:stretch>
            <a:fillRect/>
          </a:stretch>
        </p:blipFill>
        <p:spPr>
          <a:xfrm>
            <a:off x="5093373" y="1417320"/>
            <a:ext cx="6485510" cy="4206240"/>
          </a:xfrm>
          <a:prstGeom prst="rect">
            <a:avLst/>
          </a:prstGeom>
        </p:spPr>
      </p:pic>
      <p:sp>
        <p:nvSpPr>
          <p:cNvPr id="6" name="Text 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7" name="Text 4"/>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3. Delay Category Analysis</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The pie chart shows Delta's flight distribution by delay category</a:t>
            </a:r>
            <a:endParaRPr lang="en-US" sz="1500" dirty="0"/>
          </a:p>
        </p:txBody>
      </p:sp>
      <p:sp>
        <p:nvSpPr>
          <p:cNvPr id="4" name="Text 2"/>
          <p:cNvSpPr/>
          <p:nvPr/>
        </p:nvSpPr>
        <p:spPr>
          <a:xfrm>
            <a:off x="548640" y="1554480"/>
            <a:ext cx="4206240" cy="4023360"/>
          </a:xfrm>
          <a:prstGeom prst="rect">
            <a:avLst/>
          </a:prstGeom>
          <a:noFill/>
          <a:ln/>
        </p:spPr>
        <p:txBody>
          <a:bodyPr wrap="square" rtlCol="0" anchor="ctr"/>
          <a:lstStyle/>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On Time: 61.29%</a:t>
            </a:r>
            <a:endParaRPr lang="en-US" sz="1550" dirty="0"/>
          </a:p>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Minor Delay: approximately 21%</a:t>
            </a:r>
            <a:endParaRPr lang="en-US" sz="1550" dirty="0"/>
          </a:p>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Moderate Delay: approximately 12.9%</a:t>
            </a:r>
            <a:endParaRPr lang="en-US" sz="1550" dirty="0"/>
          </a:p>
          <a:p>
            <a:pPr marL="203200" indent="-203200">
              <a:spcAft>
                <a:spcPts val="1000"/>
              </a:spcAft>
              <a:buSzPct val="100000"/>
              <a:buChar char="●"/>
            </a:pPr>
            <a:r>
              <a:rPr lang="en-US" sz="1550" dirty="0">
                <a:solidFill>
                  <a:srgbClr val="404040"/>
                </a:solidFill>
                <a:latin typeface="Calibri" pitchFamily="34" charset="0"/>
                <a:ea typeface="Calibri" pitchFamily="34" charset="-122"/>
                <a:cs typeface="Calibri" pitchFamily="34" charset="-120"/>
              </a:rPr>
              <a:t>Severe Delay: approximately 4%</a:t>
            </a:r>
            <a:endParaRPr lang="en-US" sz="1550" dirty="0"/>
          </a:p>
        </p:txBody>
      </p:sp>
      <p:sp>
        <p:nvSpPr>
          <p:cNvPr id="5" name="Text 3"/>
          <p:cNvSpPr/>
          <p:nvPr/>
        </p:nvSpPr>
        <p:spPr>
          <a:xfrm>
            <a:off x="548640" y="4023360"/>
            <a:ext cx="4206240" cy="1188720"/>
          </a:xfrm>
          <a:prstGeom prst="rect">
            <a:avLst/>
          </a:prstGeom>
          <a:noFill/>
          <a:ln/>
        </p:spPr>
        <p:txBody>
          <a:bodyPr wrap="square" rtlCol="0" anchor="ctr"/>
          <a:lstStyle/>
          <a:p>
            <a:pPr marL="0" indent="0">
              <a:buNone/>
            </a:pPr>
            <a:r>
              <a:rPr lang="en-US" sz="1350" i="1" dirty="0">
                <a:solidFill>
                  <a:srgbClr val="6B6B6B"/>
                </a:solidFill>
                <a:latin typeface="Calibri" pitchFamily="34" charset="0"/>
                <a:ea typeface="Calibri" pitchFamily="34" charset="-122"/>
                <a:cs typeface="Calibri" pitchFamily="34" charset="-120"/>
              </a:rPr>
              <a:t>The majority of flights were on time, while severe delays represented the smallest category.</a:t>
            </a:r>
            <a:endParaRPr lang="en-US" sz="1350" dirty="0"/>
          </a:p>
        </p:txBody>
      </p:sp>
      <p:pic>
        <p:nvPicPr>
          <p:cNvPr id="6" name="Image 0" descr="media/image32.png"/>
          <p:cNvPicPr>
            <a:picLocks noChangeAspect="1"/>
          </p:cNvPicPr>
          <p:nvPr/>
        </p:nvPicPr>
        <p:blipFill>
          <a:blip r:embed="rId3"/>
          <a:stretch>
            <a:fillRect/>
          </a:stretch>
        </p:blipFill>
        <p:spPr>
          <a:xfrm>
            <a:off x="6655449" y="1417320"/>
            <a:ext cx="3361358" cy="4206240"/>
          </a:xfrm>
          <a:prstGeom prst="rect">
            <a:avLst/>
          </a:prstGeom>
        </p:spPr>
      </p:pic>
      <p:sp>
        <p:nvSpPr>
          <p:cNvPr id="7" name="Text 4"/>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8" name="Text 5"/>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4. Decomposition Tree and Drill-through</a:t>
            </a:r>
            <a:endParaRPr lang="en-US" sz="2800" dirty="0"/>
          </a:p>
        </p:txBody>
      </p:sp>
      <p:sp>
        <p:nvSpPr>
          <p:cNvPr id="3" name="Text 1"/>
          <p:cNvSpPr/>
          <p:nvPr/>
        </p:nvSpPr>
        <p:spPr>
          <a:xfrm>
            <a:off x="548640" y="1371600"/>
            <a:ext cx="11094415" cy="1051560"/>
          </a:xfrm>
          <a:prstGeom prst="rect">
            <a:avLst/>
          </a:prstGeom>
          <a:noFill/>
          <a:ln/>
        </p:spPr>
        <p:txBody>
          <a:bodyPr wrap="square" rtlCol="0" anchor="ctr"/>
          <a:lstStyle/>
          <a:p>
            <a:pPr marL="0" indent="0">
              <a:buNone/>
            </a:pPr>
            <a:r>
              <a:rPr lang="en-US" sz="1450" dirty="0">
                <a:solidFill>
                  <a:srgbClr val="404040"/>
                </a:solidFill>
                <a:latin typeface="Calibri" pitchFamily="34" charset="0"/>
                <a:ea typeface="Calibri" pitchFamily="34" charset="-122"/>
                <a:cs typeface="Calibri" pitchFamily="34" charset="-120"/>
              </a:rPr>
              <a:t>The decomposition tree allows total flights to be broken down by airline, destination, month, flight status and delay category. This makes it easier to investigate the factors behind flight activity. The drill-through feature allows users to select an airline from the main dashboard and automatically move to a detailed airline analysis page.</a:t>
            </a:r>
            <a:endParaRPr lang="en-US" sz="1450" dirty="0"/>
          </a:p>
        </p:txBody>
      </p:sp>
      <p:pic>
        <p:nvPicPr>
          <p:cNvPr id="4" name="Image 0" descr="media/image33.png"/>
          <p:cNvPicPr>
            <a:picLocks noChangeAspect="1"/>
          </p:cNvPicPr>
          <p:nvPr/>
        </p:nvPicPr>
        <p:blipFill>
          <a:blip r:embed="rId3"/>
          <a:stretch>
            <a:fillRect/>
          </a:stretch>
        </p:blipFill>
        <p:spPr>
          <a:xfrm>
            <a:off x="1073825" y="2514600"/>
            <a:ext cx="4359677" cy="3566160"/>
          </a:xfrm>
          <a:prstGeom prst="rect">
            <a:avLst/>
          </a:prstGeom>
        </p:spPr>
      </p:pic>
      <p:pic>
        <p:nvPicPr>
          <p:cNvPr id="5" name="Image 1" descr="media/image34.png"/>
          <p:cNvPicPr>
            <a:picLocks noChangeAspect="1"/>
          </p:cNvPicPr>
          <p:nvPr/>
        </p:nvPicPr>
        <p:blipFill>
          <a:blip r:embed="rId4"/>
          <a:stretch>
            <a:fillRect/>
          </a:stretch>
        </p:blipFill>
        <p:spPr>
          <a:xfrm>
            <a:off x="7329634" y="2514600"/>
            <a:ext cx="3216795" cy="3566160"/>
          </a:xfrm>
          <a:prstGeom prst="rect">
            <a:avLst/>
          </a:prstGeom>
        </p:spPr>
      </p:pic>
      <p:sp>
        <p:nvSpPr>
          <p:cNvPr id="6"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7"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5. Custom Tooltip</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A custom tooltip was added to provide additional information when users hover over a visual without overcrowding the dashboard.</a:t>
            </a:r>
            <a:endParaRPr lang="en-US" sz="1500" dirty="0"/>
          </a:p>
        </p:txBody>
      </p:sp>
      <p:pic>
        <p:nvPicPr>
          <p:cNvPr id="4" name="Image 0" descr="media/image35.png"/>
          <p:cNvPicPr>
            <a:picLocks noChangeAspect="1"/>
          </p:cNvPicPr>
          <p:nvPr/>
        </p:nvPicPr>
        <p:blipFill>
          <a:blip r:embed="rId3"/>
          <a:stretch>
            <a:fillRect/>
          </a:stretch>
        </p:blipFill>
        <p:spPr>
          <a:xfrm>
            <a:off x="3029295" y="2194560"/>
            <a:ext cx="6133106" cy="356616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Conclusion</a:t>
            </a:r>
            <a:endParaRPr lang="en-US" sz="2800" dirty="0"/>
          </a:p>
        </p:txBody>
      </p:sp>
      <p:sp>
        <p:nvSpPr>
          <p:cNvPr id="3" name="Text 1"/>
          <p:cNvSpPr/>
          <p:nvPr/>
        </p:nvSpPr>
        <p:spPr>
          <a:xfrm>
            <a:off x="548640" y="1554480"/>
            <a:ext cx="11094415" cy="4206240"/>
          </a:xfrm>
          <a:prstGeom prst="rect">
            <a:avLst/>
          </a:prstGeom>
          <a:noFill/>
          <a:ln/>
        </p:spPr>
        <p:txBody>
          <a:bodyPr wrap="square" rtlCol="0" anchor="t"/>
          <a:lstStyle/>
          <a:p>
            <a:pPr marL="0" indent="0">
              <a:lnSpc>
                <a:spcPts val="2600"/>
              </a:lnSpc>
              <a:buNone/>
            </a:pPr>
            <a:r>
              <a:rPr lang="en-US" sz="1700" dirty="0">
                <a:solidFill>
                  <a:srgbClr val="404040"/>
                </a:solidFill>
                <a:latin typeface="Calibri" pitchFamily="34" charset="0"/>
                <a:ea typeface="Calibri" pitchFamily="34" charset="-122"/>
                <a:cs typeface="Calibri" pitchFamily="34" charset="-120"/>
              </a:rPr>
              <a:t>Overall, the dashboard shows that airline operations vary by destination, airline and month. Flight volume is concentrated in certain destinations, while airline performance and delay rates differ between carriers. The interactive drill-through, decomposition tree and tooltip allow users to move from general information to detailed airline analysis and identify areas that may require improvement.</a:t>
            </a:r>
            <a:endParaRPr lang="en-US" sz="170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Dashboard Visuals — Figure 1: Geographic and Segment Analysis</a:t>
            </a:r>
            <a:endParaRPr lang="en-US" sz="2800" dirty="0"/>
          </a:p>
        </p:txBody>
      </p:sp>
      <p:pic>
        <p:nvPicPr>
          <p:cNvPr id="3" name="Image 0" descr="media/image36.png"/>
          <p:cNvPicPr>
            <a:picLocks noChangeAspect="1"/>
          </p:cNvPicPr>
          <p:nvPr/>
        </p:nvPicPr>
        <p:blipFill>
          <a:blip r:embed="rId3"/>
          <a:stretch>
            <a:fillRect/>
          </a:stretch>
        </p:blipFill>
        <p:spPr>
          <a:xfrm>
            <a:off x="2514384" y="1417320"/>
            <a:ext cx="7162928"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This page presents the geographic distribution of flight activity and allows airline performance to be compared across different months.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Figure 2: Detailed Airline Operations — Page 4</a:t>
            </a:r>
            <a:endParaRPr lang="en-US" sz="2800" dirty="0"/>
          </a:p>
        </p:txBody>
      </p:sp>
      <p:pic>
        <p:nvPicPr>
          <p:cNvPr id="3" name="Image 0" descr="media/image37.png"/>
          <p:cNvPicPr>
            <a:picLocks noChangeAspect="1"/>
          </p:cNvPicPr>
          <p:nvPr/>
        </p:nvPicPr>
        <p:blipFill>
          <a:blip r:embed="rId3"/>
          <a:stretch>
            <a:fillRect/>
          </a:stretch>
        </p:blipFill>
        <p:spPr>
          <a:xfrm>
            <a:off x="2330702" y="1417320"/>
            <a:ext cx="7530291"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Figure 2: Airline Detailed Operations Analysis Dashboard. This page provides detailed information about the selected airline, including total flights, on-time rate, average distance, routes, monthly activity and delay categories.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Figure 3: Custom Tooltip</a:t>
            </a:r>
            <a:endParaRPr lang="en-US" sz="2800" dirty="0"/>
          </a:p>
        </p:txBody>
      </p:sp>
      <p:pic>
        <p:nvPicPr>
          <p:cNvPr id="3" name="Image 0" descr="media/image38.png"/>
          <p:cNvPicPr>
            <a:picLocks noChangeAspect="1"/>
          </p:cNvPicPr>
          <p:nvPr/>
        </p:nvPicPr>
        <p:blipFill>
          <a:blip r:embed="rId3"/>
          <a:stretch>
            <a:fillRect/>
          </a:stretch>
        </p:blipFill>
        <p:spPr>
          <a:xfrm>
            <a:off x="2589143" y="1417320"/>
            <a:ext cx="7013409"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Figure 3: Custom Tooltip Showing Additional Destination Performance Information</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AirTran Airways — Q1 2011 Total Flights</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For AirTran Airways in the first quarter of 2011, the dashboard recorded a total of 224,000 flights. This is the baseline volume figure used for the other Executive Summary measures in this filtered view.</a:t>
            </a:r>
            <a:endParaRPr lang="en-US" sz="1500" dirty="0"/>
          </a:p>
        </p:txBody>
      </p:sp>
      <p:pic>
        <p:nvPicPr>
          <p:cNvPr id="4" name="Image 0" descr="media/image39.png"/>
          <p:cNvPicPr>
            <a:picLocks noChangeAspect="1"/>
          </p:cNvPicPr>
          <p:nvPr/>
        </p:nvPicPr>
        <p:blipFill>
          <a:blip r:embed="rId3"/>
          <a:stretch>
            <a:fillRect/>
          </a:stretch>
        </p:blipFill>
        <p:spPr>
          <a:xfrm>
            <a:off x="4586381" y="2377440"/>
            <a:ext cx="3018934" cy="320040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2: Average Departure and Arrival Delay</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The average departure delay for AirTran Airways in Q1 2011 is 6.86 minutes, while the average arrival delay is lower at 5.73 minutes. This gap suggests that although flights tend to leave a few minutes late on average, the airline generally makes up a small amount of that time in the air, arriving slightly closer to schedule than it departs.</a:t>
            </a:r>
            <a:endParaRPr lang="en-US" sz="1500" dirty="0"/>
          </a:p>
        </p:txBody>
      </p:sp>
      <p:pic>
        <p:nvPicPr>
          <p:cNvPr id="4" name="Image 0" descr="media/image40.png"/>
          <p:cNvPicPr>
            <a:picLocks noChangeAspect="1"/>
          </p:cNvPicPr>
          <p:nvPr/>
        </p:nvPicPr>
        <p:blipFill>
          <a:blip r:embed="rId3"/>
          <a:stretch>
            <a:fillRect/>
          </a:stretch>
        </p:blipFill>
        <p:spPr>
          <a:xfrm>
            <a:off x="5480027" y="2743200"/>
            <a:ext cx="1231641" cy="301752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3: Cancellations</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The dashboard shows 0 cancelled flights for AirTran Airways in this period. This is a strong result, indicating that during Q1 2011 the airline maintained full operational reliability with no recorded cancellations, at least within the filtered view.</a:t>
            </a:r>
            <a:endParaRPr lang="en-US" sz="1500" dirty="0"/>
          </a:p>
        </p:txBody>
      </p:sp>
      <p:pic>
        <p:nvPicPr>
          <p:cNvPr id="4" name="Image 0" descr="media/image41.png"/>
          <p:cNvPicPr>
            <a:picLocks noChangeAspect="1"/>
          </p:cNvPicPr>
          <p:nvPr/>
        </p:nvPicPr>
        <p:blipFill>
          <a:blip r:embed="rId3"/>
          <a:stretch>
            <a:fillRect/>
          </a:stretch>
        </p:blipFill>
        <p:spPr>
          <a:xfrm>
            <a:off x="5000654" y="2560320"/>
            <a:ext cx="2190388" cy="320040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4: Delay Spikes Over Time</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The trend chart for January to March 2011 shows that daily departure delays generally stay low, fluctuating between 0 and 100 minutes on most days, aside from an early spike near 220 minutes in January. From February onward, several sharp spikes stand out, reaching roughly 380, 500, and 545 minutes on individual days, with the highest spike occurring in March. This pattern points to isolated severe-delay days rather than a steady elevated delay level, meaning the 6.86-minute average delay figure alone hides these extreme outlier days.</a:t>
            </a:r>
            <a:endParaRPr lang="en-US" sz="1500" dirty="0"/>
          </a:p>
        </p:txBody>
      </p:sp>
      <p:pic>
        <p:nvPicPr>
          <p:cNvPr id="4" name="Image 0" descr="media/image42.png"/>
          <p:cNvPicPr>
            <a:picLocks noChangeAspect="1"/>
          </p:cNvPicPr>
          <p:nvPr/>
        </p:nvPicPr>
        <p:blipFill>
          <a:blip r:embed="rId3"/>
          <a:stretch>
            <a:fillRect/>
          </a:stretch>
        </p:blipFill>
        <p:spPr>
          <a:xfrm>
            <a:off x="2038526" y="2860646"/>
            <a:ext cx="7373922" cy="2900074"/>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5: Scope of Current View</a:t>
            </a:r>
            <a:endParaRPr lang="en-US" sz="2800" dirty="0"/>
          </a:p>
        </p:txBody>
      </p:sp>
      <p:sp>
        <p:nvSpPr>
          <p:cNvPr id="3" name="Text 1"/>
          <p:cNvSpPr/>
          <p:nvPr/>
        </p:nvSpPr>
        <p:spPr>
          <a:xfrm>
            <a:off x="548640" y="1417320"/>
            <a:ext cx="11094415" cy="914400"/>
          </a:xfrm>
          <a:prstGeom prst="rect">
            <a:avLst/>
          </a:prstGeom>
          <a:noFill/>
          <a:ln/>
        </p:spPr>
        <p:txBody>
          <a:bodyPr wrap="square" rtlCol="0" anchor="t"/>
          <a:lstStyle/>
          <a:p>
            <a:pPr marL="0" indent="0">
              <a:buNone/>
            </a:pPr>
            <a:r>
              <a:rPr lang="en-US" sz="1500" dirty="0">
                <a:solidFill>
                  <a:srgbClr val="404040"/>
                </a:solidFill>
                <a:latin typeface="Calibri" pitchFamily="34" charset="0"/>
                <a:ea typeface="Calibri" pitchFamily="34" charset="-122"/>
                <a:cs typeface="Calibri" pitchFamily="34" charset="-120"/>
              </a:rPr>
              <a:t>All figures above reflect AirTran Airways only, filtered to Q1 2011, since these were the only Airline and Quarter selections active on the dashboard when these values were captured. A full, unfiltered view across all airlines and all quarters is needed to confirm whether AirTran Airways' performance is typical or an outlier compared to the rest of the dataset.</a:t>
            </a:r>
            <a:endParaRPr lang="en-US" sz="1500" dirty="0"/>
          </a:p>
        </p:txBody>
      </p:sp>
      <p:pic>
        <p:nvPicPr>
          <p:cNvPr id="4" name="Image 0" descr="media/image43.png"/>
          <p:cNvPicPr>
            <a:picLocks noChangeAspect="1"/>
          </p:cNvPicPr>
          <p:nvPr/>
        </p:nvPicPr>
        <p:blipFill>
          <a:blip r:embed="rId3"/>
          <a:stretch>
            <a:fillRect/>
          </a:stretch>
        </p:blipFill>
        <p:spPr>
          <a:xfrm>
            <a:off x="5293089" y="3017520"/>
            <a:ext cx="1605516" cy="2743200"/>
          </a:xfrm>
          <a:prstGeom prst="rect">
            <a:avLst/>
          </a:prstGeom>
        </p:spPr>
      </p:pic>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5">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97480"/>
            <a:ext cx="11094415"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Part 6: Insights, Recommendations and Storytelling</a:t>
            </a:r>
            <a:endParaRPr lang="en-US" sz="3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1 — Punctuality Is Inversely Related to Scale</a:t>
            </a:r>
            <a:endParaRPr lang="en-US" sz="2800" dirty="0"/>
          </a:p>
        </p:txBody>
      </p:sp>
      <p:pic>
        <p:nvPicPr>
          <p:cNvPr id="3" name="Image 0" descr="media/image44.png"/>
          <p:cNvPicPr>
            <a:picLocks noChangeAspect="1"/>
          </p:cNvPicPr>
          <p:nvPr/>
        </p:nvPicPr>
        <p:blipFill>
          <a:blip r:embed="rId3"/>
          <a:stretch>
            <a:fillRect/>
          </a:stretch>
        </p:blipFill>
        <p:spPr>
          <a:xfrm>
            <a:off x="2804298" y="1417320"/>
            <a:ext cx="6583099"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Three carriers fly 82% of Houston. All three run at or below the 52.2% average. Improving the other twelve cannot move the system.</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2 — Delay Is Manufactured During the Day</a:t>
            </a:r>
            <a:endParaRPr lang="en-US" sz="2800" dirty="0"/>
          </a:p>
        </p:txBody>
      </p:sp>
      <p:pic>
        <p:nvPicPr>
          <p:cNvPr id="3" name="Image 0" descr="media/image45.png"/>
          <p:cNvPicPr>
            <a:picLocks noChangeAspect="1"/>
          </p:cNvPicPr>
          <p:nvPr/>
        </p:nvPicPr>
        <p:blipFill>
          <a:blip r:embed="rId3"/>
          <a:stretch>
            <a:fillRect/>
          </a:stretch>
        </p:blipFill>
        <p:spPr>
          <a:xfrm>
            <a:off x="2737213" y="1417320"/>
            <a:ext cx="6717270"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06:00 departs on time. 20:00 averages 25.5 minutes late. Same aircraft, same crews, same routes — delay compounds across rotations.</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3 — Cancellations Are One Week in February</a:t>
            </a:r>
            <a:endParaRPr lang="en-US" sz="2800" dirty="0"/>
          </a:p>
        </p:txBody>
      </p:sp>
      <p:pic>
        <p:nvPicPr>
          <p:cNvPr id="3" name="Image 0" descr="media/image46.png"/>
          <p:cNvPicPr>
            <a:picLocks noChangeAspect="1"/>
          </p:cNvPicPr>
          <p:nvPr/>
        </p:nvPicPr>
        <p:blipFill>
          <a:blip r:embed="rId3"/>
          <a:stretch>
            <a:fillRect/>
          </a:stretch>
        </p:blipFill>
        <p:spPr>
          <a:xfrm>
            <a:off x="2481721" y="1417320"/>
            <a:ext cx="7228253"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1,108 of 2,973 cancellations fall in February. Strip it out and the network cancels 0.89% — a well-run operation.</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4 — Delay Peaks in May, Traffic Peaks in July</a:t>
            </a:r>
            <a:endParaRPr lang="en-US" sz="2800" dirty="0"/>
          </a:p>
        </p:txBody>
      </p:sp>
      <p:pic>
        <p:nvPicPr>
          <p:cNvPr id="3" name="Image 0" descr="media/image47.png"/>
          <p:cNvPicPr>
            <a:picLocks noChangeAspect="1"/>
          </p:cNvPicPr>
          <p:nvPr/>
        </p:nvPicPr>
        <p:blipFill>
          <a:blip r:embed="rId3"/>
          <a:stretch>
            <a:fillRect/>
          </a:stretch>
        </p:blipFill>
        <p:spPr>
          <a:xfrm>
            <a:off x="3198063" y="1417320"/>
            <a:ext cx="5795568" cy="4206240"/>
          </a:xfrm>
          <a:prstGeom prst="rect">
            <a:avLst/>
          </a:prstGeom>
        </p:spPr>
      </p:pic>
      <p:sp>
        <p:nvSpPr>
          <p:cNvPr id="4" name="Text 1"/>
          <p:cNvSpPr/>
          <p:nvPr/>
        </p:nvSpPr>
        <p:spPr>
          <a:xfrm>
            <a:off x="548640" y="5760720"/>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Volume does not predict delay: r = 0.33. Contingency staffing is aligned to the wrong month.</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Insight 5 — A Thin Tail Does the Damage</a:t>
            </a:r>
            <a:endParaRPr lang="en-US" sz="2800" dirty="0"/>
          </a:p>
        </p:txBody>
      </p:sp>
      <p:pic>
        <p:nvPicPr>
          <p:cNvPr id="3" name="Image 0" descr="media/image48.png"/>
          <p:cNvPicPr>
            <a:picLocks noChangeAspect="1"/>
          </p:cNvPicPr>
          <p:nvPr/>
        </p:nvPicPr>
        <p:blipFill>
          <a:blip r:embed="rId3"/>
          <a:stretch>
            <a:fillRect/>
          </a:stretch>
        </p:blipFill>
        <p:spPr>
          <a:xfrm>
            <a:off x="548640" y="1417320"/>
            <a:ext cx="11094415" cy="3835106"/>
          </a:xfrm>
          <a:prstGeom prst="rect">
            <a:avLst/>
          </a:prstGeom>
        </p:spPr>
      </p:pic>
      <p:sp>
        <p:nvSpPr>
          <p:cNvPr id="4" name="Text 1"/>
          <p:cNvSpPr/>
          <p:nvPr/>
        </p:nvSpPr>
        <p:spPr>
          <a:xfrm>
            <a:off x="548640" y="5389586"/>
            <a:ext cx="11094415" cy="548640"/>
          </a:xfrm>
          <a:prstGeom prst="rect">
            <a:avLst/>
          </a:prstGeom>
          <a:noFill/>
          <a:ln/>
        </p:spPr>
        <p:txBody>
          <a:bodyPr wrap="square" rtlCol="0" anchor="ctr"/>
          <a:lstStyle/>
          <a:p>
            <a:pPr marL="0" indent="0" algn="ctr">
              <a:buNone/>
            </a:pPr>
            <a:r>
              <a:rPr lang="en-US" sz="1500" i="1" dirty="0">
                <a:solidFill>
                  <a:srgbClr val="6B6B6B"/>
                </a:solidFill>
                <a:latin typeface="Calibri" pitchFamily="34" charset="0"/>
                <a:ea typeface="Calibri" pitchFamily="34" charset="-122"/>
                <a:cs typeface="Calibri" pitchFamily="34" charset="-120"/>
              </a:rPr>
              <a:t>79% of flights are effectively fine. The cost sits in the 4.7% — 10,584 flights — that arrive an hour or more late, of which 1,110 are over three hours late. An average-delay target chases the harmless middle.</a:t>
            </a:r>
            <a:endParaRPr lang="en-US" sz="1500" dirty="0"/>
          </a:p>
        </p:txBody>
      </p:sp>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What We Recommend</a:t>
            </a:r>
            <a:endParaRPr lang="en-US" sz="2800" dirty="0"/>
          </a:p>
        </p:txBody>
      </p:sp>
      <p:sp>
        <p:nvSpPr>
          <p:cNvPr id="3" name="Text 1"/>
          <p:cNvSpPr/>
          <p:nvPr/>
        </p:nvSpPr>
        <p:spPr>
          <a:xfrm>
            <a:off x="548640" y="987552"/>
            <a:ext cx="11094415" cy="365760"/>
          </a:xfrm>
          <a:prstGeom prst="rect">
            <a:avLst/>
          </a:prstGeom>
          <a:noFill/>
          <a:ln/>
        </p:spPr>
        <p:txBody>
          <a:bodyPr wrap="square" rtlCol="0" anchor="ctr"/>
          <a:lstStyle/>
          <a:p>
            <a:pPr marL="0" indent="0">
              <a:buNone/>
            </a:pPr>
            <a:r>
              <a:rPr lang="en-US" sz="1500" i="1" dirty="0">
                <a:solidFill>
                  <a:srgbClr val="6B6B6B"/>
                </a:solidFill>
                <a:latin typeface="Calibri" pitchFamily="34" charset="0"/>
                <a:ea typeface="Calibri" pitchFamily="34" charset="-122"/>
                <a:cs typeface="Calibri" pitchFamily="34" charset="-120"/>
              </a:rPr>
              <a:t>Six recommendations, traced to the evidence</a:t>
            </a:r>
            <a:endParaRPr lang="en-US" sz="15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2598420"/>
        </p:xfrm>
        <a:graphic>
          <a:graphicData uri="http://schemas.openxmlformats.org/drawingml/2006/table">
            <a:tbl>
              <a:tblPr/>
              <a:tblGrid>
                <a:gridCol w="5486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613855">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a:t>
                      </a:r>
                      <a:endParaRPr lang="en-US" sz="130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4E79"/>
                    </a:solidFill>
                  </a:tcPr>
                </a:tc>
                <a:tc>
                  <a:txBody>
                    <a:bodyPr/>
                    <a:lstStyle/>
                    <a:p>
                      <a:pPr marL="0" indent="0">
                        <a:buNone/>
                      </a:pPr>
                      <a:r>
                        <a:rPr lang="en-US" sz="1300" b="1" dirty="0">
                          <a:solidFill>
                            <a:srgbClr val="FFFFFF"/>
                          </a:solidFill>
                        </a:rPr>
                        <a:t>Recommendation</a:t>
                      </a:r>
                      <a:endParaRPr lang="en-US" sz="130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4E79"/>
                    </a:solidFill>
                  </a:tcPr>
                </a:tc>
                <a:tc>
                  <a:txBody>
                    <a:bodyPr/>
                    <a:lstStyle/>
                    <a:p>
                      <a:pPr marL="0" indent="0">
                        <a:buNone/>
                      </a:pPr>
                      <a:r>
                        <a:rPr lang="en-US" sz="1300" b="1" dirty="0">
                          <a:solidFill>
                            <a:srgbClr val="FFFFFF"/>
                          </a:solidFill>
                        </a:rPr>
                        <a:t>Why</a:t>
                      </a:r>
                      <a:endParaRPr lang="en-US" sz="130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404040"/>
                          </a:solidFill>
                        </a:rPr>
                        <a:t>1</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50" b="1" dirty="0">
                          <a:solidFill>
                            <a:srgbClr val="404040"/>
                          </a:solidFill>
                        </a:rPr>
                        <a:t>Target the three high-volume carriers</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50" dirty="0">
                          <a:solidFill>
                            <a:srgbClr val="404040"/>
                          </a:solidFill>
                        </a:rPr>
                        <a:t>Moving them nine points moves the whole system seven. Perfecting the other twelve moves it under three.</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dirty="0">
                          <a:solidFill>
                            <a:srgbClr val="404040"/>
                          </a:solidFill>
                        </a:rPr>
                        <a:t>2</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tc>
                  <a:txBody>
                    <a:bodyPr/>
                    <a:lstStyle/>
                    <a:p>
                      <a:pPr marL="0" indent="0">
                        <a:buNone/>
                      </a:pPr>
                      <a:r>
                        <a:rPr lang="en-US" sz="1250" b="1" dirty="0">
                          <a:solidFill>
                            <a:srgbClr val="404040"/>
                          </a:solidFill>
                        </a:rPr>
                        <a:t>Protect the morning bank</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tc>
                  <a:txBody>
                    <a:bodyPr/>
                    <a:lstStyle/>
                    <a:p>
                      <a:pPr marL="0" indent="0">
                        <a:buNone/>
                      </a:pPr>
                      <a:r>
                        <a:rPr lang="en-US" sz="1250" dirty="0">
                          <a:solidFill>
                            <a:srgbClr val="404040"/>
                          </a:solidFill>
                        </a:rPr>
                        <a:t>Delay compounds from 06:00. The earliest minute saved is the cheapest.</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extLst>
                  <a:ext uri="{0D108BD9-81ED-4DB2-BD59-A6C34878D82A}">
                    <a16:rowId xmlns:a16="http://schemas.microsoft.com/office/drawing/2014/main" val="10002"/>
                  </a:ext>
                </a:extLst>
              </a:tr>
              <a:tr h="0">
                <a:tc>
                  <a:txBody>
                    <a:bodyPr/>
                    <a:lstStyle/>
                    <a:p>
                      <a:pPr marL="0" indent="0">
                        <a:buNone/>
                      </a:pPr>
                      <a:r>
                        <a:rPr lang="en-US" sz="1250" dirty="0">
                          <a:solidFill>
                            <a:srgbClr val="404040"/>
                          </a:solidFill>
                        </a:rPr>
                        <a:t>3</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50" b="1" dirty="0">
                          <a:solidFill>
                            <a:srgbClr val="404040"/>
                          </a:solidFill>
                        </a:rPr>
                        <a:t>Fix HOU's turnaround, not its taxiways</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50" dirty="0">
                          <a:solidFill>
                            <a:srgbClr val="404040"/>
                          </a:solidFill>
                        </a:rPr>
                        <a:t>Half the taxi time, more departure delay. The gate is the constraint.</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dirty="0">
                          <a:solidFill>
                            <a:srgbClr val="404040"/>
                          </a:solidFill>
                        </a:rPr>
                        <a:t>4</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tc>
                  <a:txBody>
                    <a:bodyPr/>
                    <a:lstStyle/>
                    <a:p>
                      <a:pPr marL="0" indent="0">
                        <a:buNone/>
                      </a:pPr>
                      <a:r>
                        <a:rPr lang="en-US" sz="1250" b="1" dirty="0">
                          <a:solidFill>
                            <a:srgbClr val="404040"/>
                          </a:solidFill>
                        </a:rPr>
                        <a:t>Separate February from the cancellation baseline</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tc>
                  <a:txBody>
                    <a:bodyPr/>
                    <a:lstStyle/>
                    <a:p>
                      <a:pPr marL="0" indent="0">
                        <a:buNone/>
                      </a:pPr>
                      <a:r>
                        <a:rPr lang="en-US" sz="1250" dirty="0">
                          <a:solidFill>
                            <a:srgbClr val="404040"/>
                          </a:solidFill>
                        </a:rPr>
                        <a:t>The blended rate hides a good operation and misnames the dominant cause.</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extLst>
                  <a:ext uri="{0D108BD9-81ED-4DB2-BD59-A6C34878D82A}">
                    <a16:rowId xmlns:a16="http://schemas.microsoft.com/office/drawing/2014/main" val="10004"/>
                  </a:ext>
                </a:extLst>
              </a:tr>
              <a:tr h="0">
                <a:tc>
                  <a:txBody>
                    <a:bodyPr/>
                    <a:lstStyle/>
                    <a:p>
                      <a:pPr marL="0" indent="0">
                        <a:buNone/>
                      </a:pPr>
                      <a:r>
                        <a:rPr lang="en-US" sz="1250" dirty="0">
                          <a:solidFill>
                            <a:srgbClr val="404040"/>
                          </a:solidFill>
                        </a:rPr>
                        <a:t>5</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50" b="1" dirty="0">
                          <a:solidFill>
                            <a:srgbClr val="404040"/>
                          </a:solidFill>
                        </a:rPr>
                        <a:t>Target severe-delay rate, not average delay</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250" dirty="0">
                          <a:solidFill>
                            <a:srgbClr val="404040"/>
                          </a:solidFill>
                        </a:rPr>
                        <a:t>Aims at the 10,584 flights that break connections, not at noise.</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50" dirty="0">
                          <a:solidFill>
                            <a:srgbClr val="404040"/>
                          </a:solidFill>
                        </a:rPr>
                        <a:t>6</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tc>
                  <a:txBody>
                    <a:bodyPr/>
                    <a:lstStyle/>
                    <a:p>
                      <a:pPr marL="0" indent="0">
                        <a:buNone/>
                      </a:pPr>
                      <a:r>
                        <a:rPr lang="en-US" sz="1250" b="1" dirty="0">
                          <a:solidFill>
                            <a:srgbClr val="404040"/>
                          </a:solidFill>
                        </a:rPr>
                        <a:t>Load-plan for May, not July</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tc>
                  <a:txBody>
                    <a:bodyPr/>
                    <a:lstStyle/>
                    <a:p>
                      <a:pPr marL="0" indent="0">
                        <a:buNone/>
                      </a:pPr>
                      <a:r>
                        <a:rPr lang="en-US" sz="1250" dirty="0">
                          <a:solidFill>
                            <a:srgbClr val="404040"/>
                          </a:solidFill>
                        </a:rPr>
                        <a:t>Align contingency with when the network fails, not when it is busiest.</a:t>
                      </a:r>
                      <a:endParaRPr lang="en-US" sz="1250" dirty="0"/>
                    </a:p>
                  </a:txBody>
                  <a:tcPr marL="101600" marR="101600" marT="76200" marB="762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1F8"/>
                    </a:solidFill>
                  </a:tcPr>
                </a:tc>
                <a:extLst>
                  <a:ext uri="{0D108BD9-81ED-4DB2-BD59-A6C34878D82A}">
                    <a16:rowId xmlns:a16="http://schemas.microsoft.com/office/drawing/2014/main" val="10006"/>
                  </a:ext>
                </a:extLst>
              </a:tr>
            </a:tbl>
          </a:graphicData>
        </a:graphic>
      </p:graphicFrame>
      <p:sp>
        <p:nvSpPr>
          <p:cNvPr id="5"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Where This Leaves Houston</a:t>
            </a:r>
            <a:endParaRPr lang="en-US" sz="2800" dirty="0"/>
          </a:p>
        </p:txBody>
      </p:sp>
      <p:sp>
        <p:nvSpPr>
          <p:cNvPr id="3" name="Text 1"/>
          <p:cNvSpPr/>
          <p:nvPr/>
        </p:nvSpPr>
        <p:spPr>
          <a:xfrm>
            <a:off x="548640" y="1371600"/>
            <a:ext cx="11094415" cy="3291840"/>
          </a:xfrm>
          <a:prstGeom prst="rect">
            <a:avLst/>
          </a:prstGeom>
          <a:noFill/>
          <a:ln/>
        </p:spPr>
        <p:txBody>
          <a:bodyPr wrap="square" rtlCol="0" anchor="ctr"/>
          <a:lstStyle/>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Houston does not have a general punctuality problem. It has three addressable problems and one unavoidable one.</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Unavoidable: February. One ice storm, 37% of the year's cancellations.</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Concentration: three carriers are the system.</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Compounding: delay is created hour by hour, not inherited.</a:t>
            </a:r>
            <a:endParaRPr lang="en-US" sz="1700" dirty="0"/>
          </a:p>
          <a:p>
            <a:pPr marL="228600" indent="-228600">
              <a:spcAft>
                <a:spcPts val="1400"/>
              </a:spcAft>
              <a:buSzPct val="100000"/>
              <a:buChar char="●"/>
            </a:pPr>
            <a:r>
              <a:rPr lang="en-US" sz="1700" dirty="0">
                <a:solidFill>
                  <a:srgbClr val="404040"/>
                </a:solidFill>
                <a:latin typeface="Calibri" pitchFamily="34" charset="0"/>
                <a:ea typeface="Calibri" pitchFamily="34" charset="-122"/>
                <a:cs typeface="Calibri" pitchFamily="34" charset="-120"/>
              </a:rPr>
              <a:t>Measurement: the current metrics point management at the least actionable part of all three.</a:t>
            </a:r>
            <a:endParaRPr lang="en-US" sz="1700" dirty="0"/>
          </a:p>
        </p:txBody>
      </p:sp>
      <p:sp>
        <p:nvSpPr>
          <p:cNvPr id="4" name="Text 2"/>
          <p:cNvSpPr/>
          <p:nvPr/>
        </p:nvSpPr>
        <p:spPr>
          <a:xfrm>
            <a:off x="548640" y="5486400"/>
            <a:ext cx="11094415" cy="731520"/>
          </a:xfrm>
          <a:prstGeom prst="rect">
            <a:avLst/>
          </a:prstGeom>
          <a:noFill/>
          <a:ln/>
        </p:spPr>
        <p:txBody>
          <a:bodyPr wrap="square" rtlCol="0" anchor="ctr"/>
          <a:lstStyle/>
          <a:p>
            <a:pPr marL="0" indent="0">
              <a:buNone/>
            </a:pPr>
            <a:r>
              <a:rPr lang="en-US" sz="1500" i="1" dirty="0">
                <a:solidFill>
                  <a:srgbClr val="2E75B6"/>
                </a:solidFill>
                <a:latin typeface="Calibri" pitchFamily="34" charset="0"/>
                <a:ea typeface="Calibri" pitchFamily="34" charset="-122"/>
                <a:cs typeface="Calibri" pitchFamily="34" charset="-120"/>
              </a:rPr>
              <a:t>The cheapest recommendation — change what is measured — costs nothing and unlocks the value of the other five.</a:t>
            </a:r>
            <a:endParaRPr lang="en-US" sz="1500" dirty="0"/>
          </a:p>
        </p:txBody>
      </p:sp>
      <p:sp>
        <p:nvSpPr>
          <p:cNvPr id="5" name="Text 3"/>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6" name="Text 4"/>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48640" y="384048"/>
            <a:ext cx="11094415" cy="640080"/>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Recommendations for the Dashboard</a:t>
            </a:r>
            <a:endParaRPr lang="en-US" sz="2800" dirty="0"/>
          </a:p>
        </p:txBody>
      </p:sp>
      <p:sp>
        <p:nvSpPr>
          <p:cNvPr id="3" name="Text 1"/>
          <p:cNvSpPr/>
          <p:nvPr/>
        </p:nvSpPr>
        <p:spPr>
          <a:xfrm>
            <a:off x="548640" y="1463040"/>
            <a:ext cx="11094415" cy="4754880"/>
          </a:xfrm>
          <a:prstGeom prst="rect">
            <a:avLst/>
          </a:prstGeom>
          <a:noFill/>
          <a:ln/>
        </p:spPr>
        <p:txBody>
          <a:bodyPr wrap="square" rtlCol="0" anchor="ctr"/>
          <a:lstStyle/>
          <a:p>
            <a:pPr marL="342900" indent="-342900">
              <a:spcAft>
                <a:spcPts val="1400"/>
              </a:spcAft>
              <a:buSzPct val="100000"/>
              <a:buChar char="①"/>
            </a:pPr>
            <a:r>
              <a:rPr lang="en-US" sz="1450" dirty="0">
                <a:solidFill>
                  <a:srgbClr val="404040"/>
                </a:solidFill>
                <a:latin typeface="Calibri" pitchFamily="34" charset="0"/>
                <a:ea typeface="Calibri" pitchFamily="34" charset="-122"/>
                <a:cs typeface="Calibri" pitchFamily="34" charset="-120"/>
              </a:rPr>
              <a:t>Investigate the specific days behind the three major delay spikes (around 500, 380, and 545 minutes) in Q1 2011 to identify whether they were caused by weather, mechanical issues, or operational disruptions, since these outliers have a bigger impact on passengers than the 6.86-minute average suggests.</a:t>
            </a:r>
            <a:endParaRPr lang="en-US" sz="1450" dirty="0"/>
          </a:p>
          <a:p>
            <a:pPr marL="342900" indent="-342900">
              <a:spcAft>
                <a:spcPts val="1400"/>
              </a:spcAft>
              <a:buSzPct val="100000"/>
              <a:buChar char="②"/>
            </a:pPr>
            <a:r>
              <a:rPr lang="en-US" sz="1450" dirty="0">
                <a:solidFill>
                  <a:srgbClr val="404040"/>
                </a:solidFill>
                <a:latin typeface="Calibri" pitchFamily="34" charset="0"/>
                <a:ea typeface="Calibri" pitchFamily="34" charset="-122"/>
                <a:cs typeface="Calibri" pitchFamily="34" charset="-120"/>
              </a:rPr>
              <a:t>Set up daily delay alerts for any day where departure delay exceeds a set threshold (for example, 150 minutes), so severe-delay days like the ones seen in January and February 2011 are caught and addressed in real time rather than only in quarterly review.</a:t>
            </a:r>
            <a:endParaRPr lang="en-US" sz="1450" dirty="0"/>
          </a:p>
          <a:p>
            <a:pPr marL="342900" indent="-342900">
              <a:spcAft>
                <a:spcPts val="1400"/>
              </a:spcAft>
              <a:buSzPct val="100000"/>
              <a:buChar char="③"/>
            </a:pPr>
            <a:r>
              <a:rPr lang="en-US" sz="1450" dirty="0">
                <a:solidFill>
                  <a:srgbClr val="404040"/>
                </a:solidFill>
                <a:latin typeface="Calibri" pitchFamily="34" charset="0"/>
                <a:ea typeface="Calibri" pitchFamily="34" charset="-122"/>
                <a:cs typeface="Calibri" pitchFamily="34" charset="-120"/>
              </a:rPr>
              <a:t>Maintain the current zero-cancellation standard by documenting what operational practices kept cancellations at 0 in Q1 2011, and apply the same practices across other quarters and airlines.</a:t>
            </a:r>
            <a:endParaRPr lang="en-US" sz="1450" dirty="0"/>
          </a:p>
          <a:p>
            <a:pPr marL="342900" indent="-342900">
              <a:spcAft>
                <a:spcPts val="1400"/>
              </a:spcAft>
              <a:buSzPct val="100000"/>
              <a:buChar char="④"/>
            </a:pPr>
            <a:r>
              <a:rPr lang="en-US" sz="1450" dirty="0">
                <a:solidFill>
                  <a:srgbClr val="404040"/>
                </a:solidFill>
                <a:latin typeface="Calibri" pitchFamily="34" charset="0"/>
                <a:ea typeface="Calibri" pitchFamily="34" charset="-122"/>
                <a:cs typeface="Calibri" pitchFamily="34" charset="-120"/>
              </a:rPr>
              <a:t>Compare AirTran Airways' 6.86-minute average departure delay against the other airlines in the dataset (Alaska, American, Delta, Frontier, and others) to determine whether this performance is above or below industry average within the dataset.</a:t>
            </a:r>
            <a:endParaRPr lang="en-US" sz="1450" dirty="0"/>
          </a:p>
          <a:p>
            <a:pPr marL="342900" indent="-342900">
              <a:spcAft>
                <a:spcPts val="1400"/>
              </a:spcAft>
              <a:buSzPct val="100000"/>
              <a:buChar char="⑤"/>
            </a:pPr>
            <a:r>
              <a:rPr lang="en-US" sz="1450" dirty="0">
                <a:solidFill>
                  <a:srgbClr val="404040"/>
                </a:solidFill>
                <a:latin typeface="Calibri" pitchFamily="34" charset="0"/>
                <a:ea typeface="Calibri" pitchFamily="34" charset="-122"/>
                <a:cs typeface="Calibri" pitchFamily="34" charset="-120"/>
              </a:rPr>
              <a:t>Expand this analysis to a full-year, all-airline view before presenting to senior management, since the current figures are limited to one airline and one quarter and may not represent overall performance.</a:t>
            </a:r>
            <a:endParaRPr lang="en-US" sz="1450" dirty="0"/>
          </a:p>
        </p:txBody>
      </p:sp>
      <p:sp>
        <p:nvSpPr>
          <p:cNvPr id="4" name="Text 2"/>
          <p:cNvSpPr/>
          <p:nvPr/>
        </p:nvSpPr>
        <p:spPr>
          <a:xfrm>
            <a:off x="548640" y="6510528"/>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DSA 3050A · Group 05 — Airline Delay &amp; Operations Intelligence</a:t>
            </a:r>
            <a:endParaRPr lang="en-US" sz="900" dirty="0"/>
          </a:p>
        </p:txBody>
      </p:sp>
      <p:sp>
        <p:nvSpPr>
          <p:cNvPr id="5" name="Text 3"/>
          <p:cNvSpPr/>
          <p:nvPr/>
        </p:nvSpPr>
        <p:spPr>
          <a:xfrm>
            <a:off x="11094415" y="6510528"/>
            <a:ext cx="548640" cy="274320"/>
          </a:xfrm>
          <a:prstGeom prst="rect">
            <a:avLst/>
          </a:prstGeom>
          <a:noFill/>
          <a:ln/>
        </p:spPr>
        <p:txBody>
          <a:bodyPr wrap="square" rtlCol="0" anchor="ctr"/>
          <a:lstStyle/>
          <a:p>
            <a:pPr marL="0" indent="0" algn="r">
              <a:buNone/>
            </a:pPr>
            <a:r>
              <a:rPr lang="en-US" sz="900" dirty="0">
                <a:solidFill>
                  <a:srgbClr val="AAAAAA"/>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548640" y="2606040"/>
            <a:ext cx="11094415" cy="91440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548640" y="3566160"/>
            <a:ext cx="11094415" cy="548640"/>
          </a:xfrm>
          <a:prstGeom prst="rect">
            <a:avLst/>
          </a:prstGeom>
          <a:noFill/>
          <a:ln/>
        </p:spPr>
        <p:txBody>
          <a:bodyPr wrap="square" rtlCol="0" anchor="ctr"/>
          <a:lstStyle/>
          <a:p>
            <a:pPr marL="0" indent="0" algn="ctr">
              <a:buNone/>
            </a:pPr>
            <a:r>
              <a:rPr lang="en-US" sz="2000" i="1" dirty="0">
                <a:solidFill>
                  <a:srgbClr val="9FC2E0"/>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33</TotalTime>
  <Words>3755</Words>
  <Application>Microsoft Macintosh PowerPoint</Application>
  <PresentationFormat>Widescreen</PresentationFormat>
  <Paragraphs>405</Paragraphs>
  <Slides>70</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Calibri</vt:lpstr>
      <vt:lpstr>Consolas</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Justice Chawanda</cp:lastModifiedBy>
  <cp:revision>2</cp:revision>
  <dcterms:created xsi:type="dcterms:W3CDTF">2026-08-05T09:49:18Z</dcterms:created>
  <dcterms:modified xsi:type="dcterms:W3CDTF">2026-08-05T10:36:19Z</dcterms:modified>
</cp:coreProperties>
</file>